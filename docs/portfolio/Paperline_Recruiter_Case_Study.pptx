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Paperline is my flagship portfolio project. It addresses the gap between an AI model reading a document and a team safely acting on the result. The interface you see here is the live Ops Agent demo route: two synthetic documents grouped into one operations job, moving through an upload, extract, approve, operate workflow. Everything consequential stays behind a human approval boundary, and billing runs in Stripe test mode. Over the next few minutes I'll walk through the product problem, the working architecture, and where I drew the line between working code, synthetic demo data, and planned productionization.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framed this as an engineering problem, not a demo problem. Teams get plausible answers from document AI, but three things are usually missing. First, evidence: a reviewer should be able to trace any extracted field to a quoted snippet and a page number. Second, structure: output has to be schema-validated so it can enter a repeatable workflow instead of staying chat text. Third, control: the system can prepare billing or vendor actions, but it must not silently spend money or change external systems. Underneath that sit mixed file types, tenant boundaries, uncertainty signals, and approval ownership—those constraints drove the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Ops Agent route compresses the product story into a single reviewer-friendly surface. Two synthetic documents—a master services agreement and a vendor invoice—flow through four stages: upload, extract, approve, operate. Extraction produces four cited fields with quoted snippets and page references. The agent proposes three actions, each with an owner and an approval state. And the operate step shows a six-dollar Stripe test-mode usage preview for twenty processed pages. I want to be explicit: this is a synthetic recruiter demo, not a live customer workflow—the point is showing the exact shape of the workflow the working product paths support.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is part of the product interface, not something hidden in logs or a developer console. Each extraction card shows the value, a quoted snippet of the source text, the document name, and the page reference—so a reviewer can verify the fact without reopening the file. Confidence labels are presented as a review signal, and the auto-renewal clause carries an explicit human-review flag because that's exactly the kind of term a person should confirm. One important caveat: the documents, values, and confidence labels on this screen are synthetic fixtures built to illustrate the workflow—not a live extraction run.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design principle I care most about: knowing where probabilistic model behavior should stop. The model handles what models are good at—classification, schema-guided extraction, OCR-assisted processing, and grounded answers. Everything consequential is deterministic application code: Clerk authentication and workspace authorization, runtime schema validation of every extraction shape, private storage and persistence, usage and billing rules, and approval ownership and state. The model proposes; the application decides. That split is verifiable in the repository—the AI code lives in src/lib/ai, and the control paths live in the auth, billing, and migration layers.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two rows are the implemented product path, all present in the repository: a signed-in user hits authenticated Next.js routes, workspace membership and role checks resolve tenancy, documents land in private Supabase storage, and parsing or OCR feeds page-aware chunks and embeddings into pgvector. From there, schema-validated extraction and cited chat produce reviewable output, workflow records persist—execution is synchronous today—and Stripe Checkout, Portal, and a signature-verified webhook handle billing. The amber box is the synthetic Ops Agent demo surface, and the gray box is planned productionization—kept visually separate so nobody mistakes them for live integration. One trust-boundary detail I always mention: server-side service-role access bypasses RLS, so route-level workspace filters are a critical control I treat as code to review and test, not an assumption.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didn't want extraction quality judged only by screenshots, so the repository includes a small deterministic regression harness: three synthetic document cases and twenty labeled fields. The numbers here come from deliberately imperfect sample predictions whose job is to validate the scorer itself—they are not production accuracy or live-model quality. The interesting result is the gap: forty percent exact accuracy becomes seventy-five percent once type-aware normalization handles casing, currency, dates, booleans, and list order. That gap is exactly why naive exact matching understates extraction quality. Presence F1 is tracked separately because knowing when a field is genuinely absent—versus missed—deserves its own metric. The harness gives future model and prompt changes a deterministic contract.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separates three layers of honesty. What's demonstrated on the site: every proposed action shows an owner and an approval state, the billing card is explicitly Stripe test mode, and external spend and provisioning are paused pending a human decision. What's implemented elsewhere in the repository: real Stripe Checkout and Portal routes, a signature-verified subscription webhook, and persisted workflow records. And the third column is a validated architecture direction that is not yet integrated: running the Hermes operator inside an NVIDIA NemoClaw/OpenShell sandbox with policy-governed network access and managed credential and inference handling. What makes that direction credible is that official NVIDIA documentation explicitly supports Hermes through NemoClaw. But I want to be precise: Paperline has not wired that runtime yet, and NVIDIA does not secure the current deployment.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four things I would productionize first, in priority order. Durable execution: workflows currently run synchronously in one request, so moving to Inngest gets idempotency, retries, resume, and dead-letter handling. Persisted approvals: the approval boundary should become explicit policies and state transitions from proposed through completed or failed. Evaluation expansion: I want live predictions captured against a larger versioned, privacy-safe benchmark, plus retrieval and citation evaluation. And observability with isolation: safe Sentry and PostHog events designed so document content never leaks into logs, alongside validating the NemoClaw/OpenShell path. None of these are done—being explicit about limitations is part of how I demonstrate production judgment.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Paperline demonstrates full-stack AI product engineering—not a wrapper around a chat call. Cited retrieval and schema-guided extraction make output verifiable. Workspace-scoped auth and data design show multi-tenant boundary thinking. The approval boundary shows human-in-the-loop agent design. And the eval harness, billing paths, and explicit roadmap show judgment about what production actually requires. The live Ops Agent page and the GitHub repository are linked here. I'm happy to go deeper on any layer—the extraction pipeline, the tenancy model, the eval design, or the secure-runtime direction.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appendix is the claims ledger behind the deck. Every implemented capability maps to a repository path. The synthetic demo boundary lists exactly which values are fixtures. The evaluation numbers are a scorer-validation baseline, not production accuracy. The NVIDIA direction cites official GitHub and docs sources verified on July 14, 2026, and Paperline makes no HIPAA, SOC 2, or legal certification claims. The full audit lives in the repository alongside the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aperline-xi.vercel.app/ops-agent" TargetMode="External"/><Relationship Id="rId3" Type="http://schemas.openxmlformats.org/officeDocument/2006/relationships/hyperlink" Target="https://github.com/HarrisonBlake01/paperline" TargetMode="Externa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Rectangle 1"/>
          <p:cNvSpPr/>
          <p:nvPr/>
        </p:nvSpPr>
        <p:spPr>
          <a:xfrm>
            <a:off x="0" y="0"/>
            <a:ext cx="82296" cy="6858000"/>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5486400" cy="1005840"/>
          </a:xfrm>
          <a:prstGeom prst="rect">
            <a:avLst/>
          </a:prstGeom>
          <a:noFill/>
        </p:spPr>
        <p:txBody>
          <a:bodyPr wrap="square" anchor="t" lIns="0" rIns="0" tIns="0" bIns="0">
            <a:spAutoFit/>
          </a:bodyPr>
          <a:lstStyle/>
          <a:p>
            <a:pPr algn="l">
              <a:lnSpc>
                <a:spcPct val="100000"/>
              </a:lnSpc>
            </a:pPr>
            <a:r>
              <a:rPr sz="5400" b="1">
                <a:solidFill>
                  <a:srgbClr val="F5F7FA"/>
                </a:solidFill>
                <a:latin typeface="Helvetica Neue"/>
              </a:rPr>
              <a:t>Paperline</a:t>
            </a:r>
          </a:p>
        </p:txBody>
      </p:sp>
      <p:sp>
        <p:nvSpPr>
          <p:cNvPr id="4" name="TextBox 3"/>
          <p:cNvSpPr txBox="1"/>
          <p:nvPr/>
        </p:nvSpPr>
        <p:spPr>
          <a:xfrm>
            <a:off x="685800" y="2057400"/>
            <a:ext cx="5394960" cy="1188720"/>
          </a:xfrm>
          <a:prstGeom prst="rect">
            <a:avLst/>
          </a:prstGeom>
          <a:noFill/>
        </p:spPr>
        <p:txBody>
          <a:bodyPr wrap="square" anchor="t" lIns="0" rIns="0" tIns="0" bIns="0">
            <a:spAutoFit/>
          </a:bodyPr>
          <a:lstStyle/>
          <a:p>
            <a:pPr algn="l">
              <a:lnSpc>
                <a:spcPct val="105000"/>
              </a:lnSpc>
            </a:pPr>
            <a:r>
              <a:rPr sz="2400" b="1">
                <a:solidFill>
                  <a:srgbClr val="5B8DEF"/>
                </a:solidFill>
                <a:latin typeface="Helvetica Neue"/>
              </a:rPr>
              <a:t>Cited document intelligence with human-controlled operations</a:t>
            </a:r>
          </a:p>
        </p:txBody>
      </p:sp>
      <p:sp>
        <p:nvSpPr>
          <p:cNvPr id="5" name="TextBox 4"/>
          <p:cNvSpPr txBox="1"/>
          <p:nvPr/>
        </p:nvSpPr>
        <p:spPr>
          <a:xfrm>
            <a:off x="685800" y="3246120"/>
            <a:ext cx="5212080" cy="548640"/>
          </a:xfrm>
          <a:prstGeom prst="rect">
            <a:avLst/>
          </a:prstGeom>
          <a:noFill/>
        </p:spPr>
        <p:txBody>
          <a:bodyPr wrap="square" anchor="t" lIns="0" rIns="0" tIns="0" bIns="0">
            <a:spAutoFit/>
          </a:bodyPr>
          <a:lstStyle/>
          <a:p>
            <a:pPr algn="l">
              <a:lnSpc>
                <a:spcPct val="100000"/>
              </a:lnSpc>
            </a:pPr>
            <a:r>
              <a:rPr sz="1800" b="0">
                <a:solidFill>
                  <a:srgbClr val="9AA4B5"/>
                </a:solidFill>
                <a:latin typeface="Helvetica Neue"/>
              </a:rPr>
              <a:t>Full-stack Applied AI portfolio case study · Harrison Olvera</a:t>
            </a:r>
          </a:p>
        </p:txBody>
      </p:sp>
      <p:sp>
        <p:nvSpPr>
          <p:cNvPr id="6" name="Rounded Rectangle 5"/>
          <p:cNvSpPr/>
          <p:nvPr/>
        </p:nvSpPr>
        <p:spPr>
          <a:xfrm>
            <a:off x="685800" y="3886200"/>
            <a:ext cx="3977639" cy="402336"/>
          </a:xfrm>
          <a:prstGeom prst="roundRect">
            <a:avLst>
              <a:gd name="adj" fmla="val 50000"/>
            </a:avLst>
          </a:prstGeom>
          <a:solidFill>
            <a:srgbClr val="1B212E"/>
          </a:solidFill>
          <a:ln w="12700">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wrap="none"/>
          <a:lstStyle/>
          <a:p>
            <a:pPr algn="ctr"/>
            <a:r>
              <a:rPr sz="1300" b="1">
                <a:solidFill>
                  <a:srgbClr val="F0B429"/>
                </a:solidFill>
                <a:latin typeface="Helvetica Neue"/>
              </a:rPr>
              <a:t>Synthetic recruiter demo · Stripe test mode</a:t>
            </a:r>
          </a:p>
        </p:txBody>
      </p:sp>
      <p:pic>
        <p:nvPicPr>
          <p:cNvPr id="7" name="Picture 6" descr="Paperline Ops Agent operations job card showing two synthetic documents and the Upload, Extract, Approve, Operate workflow trace"/>
          <p:cNvPicPr>
            <a:picLocks noChangeAspect="1"/>
          </p:cNvPicPr>
          <p:nvPr/>
        </p:nvPicPr>
        <p:blipFill>
          <a:blip r:embed="rId2"/>
          <a:stretch>
            <a:fillRect/>
          </a:stretch>
        </p:blipFill>
        <p:spPr>
          <a:xfrm>
            <a:off x="6537960" y="777240"/>
            <a:ext cx="4983480" cy="5034856"/>
          </a:xfrm>
          <a:prstGeom prst="rect">
            <a:avLst/>
          </a:prstGeom>
          <a:ln w="12700">
            <a:solidFill>
              <a:srgbClr val="2A3140"/>
            </a:solidFill>
          </a:ln>
        </p:spPr>
      </p:pic>
      <p:sp>
        <p:nvSpPr>
          <p:cNvPr id="8" name="TextBox 7"/>
          <p:cNvSpPr txBox="1"/>
          <p:nvPr/>
        </p:nvSpPr>
        <p:spPr>
          <a:xfrm>
            <a:off x="685800" y="6172200"/>
            <a:ext cx="10789920" cy="365760"/>
          </a:xfrm>
          <a:prstGeom prst="rect">
            <a:avLst/>
          </a:prstGeom>
          <a:noFill/>
        </p:spPr>
        <p:txBody>
          <a:bodyPr wrap="square" anchor="t" lIns="0" rIns="0" tIns="0" bIns="0">
            <a:spAutoFit/>
          </a:bodyPr>
          <a:lstStyle/>
          <a:p>
            <a:pPr algn="l">
              <a:lnSpc>
                <a:spcPct val="100000"/>
              </a:lnSpc>
            </a:pPr>
            <a:r>
              <a:rPr sz="1400" b="0">
                <a:solidFill>
                  <a:srgbClr val="9AA4B5"/>
                </a:solidFill>
                <a:latin typeface="Helvetica Neue"/>
              </a:rPr>
              <a:t>Next.js · TypeScript · Clerk · Supabase/pgvector · OpenAI · Stripe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anchor="t" lIns="0" rIns="0" tIns="0" bIns="0">
            <a:spAutoFit/>
          </a:bodyPr>
          <a:lstStyle/>
          <a:p>
            <a:pPr algn="l">
              <a:lnSpc>
                <a:spcPct val="100000"/>
              </a:lnSpc>
            </a:pPr>
            <a:r>
              <a:rPr sz="1300" b="1">
                <a:solidFill>
                  <a:srgbClr val="5B8DEF"/>
                </a:solidFill>
                <a:latin typeface="Helvetica Neue"/>
              </a:rPr>
              <a:t>THE PRODUCT PROBLEM</a:t>
            </a:r>
          </a:p>
        </p:txBody>
      </p:sp>
      <p:sp>
        <p:nvSpPr>
          <p:cNvPr id="3" name="TextBox 2"/>
          <p:cNvSpPr txBox="1"/>
          <p:nvPr/>
        </p:nvSpPr>
        <p:spPr>
          <a:xfrm>
            <a:off x="548640" y="658368"/>
            <a:ext cx="11064240" cy="777240"/>
          </a:xfrm>
          <a:prstGeom prst="rect">
            <a:avLst/>
          </a:prstGeom>
          <a:noFill/>
        </p:spPr>
        <p:txBody>
          <a:bodyPr wrap="square" anchor="t" lIns="0" rIns="0" tIns="0" bIns="0">
            <a:spAutoFit/>
          </a:bodyPr>
          <a:lstStyle/>
          <a:p>
            <a:pPr algn="l">
              <a:lnSpc>
                <a:spcPct val="100000"/>
              </a:lnSpc>
            </a:pPr>
            <a:r>
              <a:rPr sz="3000" b="1">
                <a:solidFill>
                  <a:srgbClr val="F5F7FA"/>
                </a:solidFill>
                <a:latin typeface="Helvetica Neue"/>
              </a:rPr>
              <a:t>Document AI needs evidence, structure, and control—not just plausible answers.</a:t>
            </a:r>
          </a:p>
        </p:txBody>
      </p:sp>
      <p:sp>
        <p:nvSpPr>
          <p:cNvPr id="4" name="Rounded Rectangle 3"/>
          <p:cNvSpPr/>
          <p:nvPr/>
        </p:nvSpPr>
        <p:spPr>
          <a:xfrm>
            <a:off x="548640" y="1965960"/>
            <a:ext cx="3593592" cy="3749039"/>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965960"/>
            <a:ext cx="64008" cy="3749039"/>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86000"/>
            <a:ext cx="2953512" cy="457200"/>
          </a:xfrm>
          <a:prstGeom prst="rect">
            <a:avLst/>
          </a:prstGeom>
          <a:noFill/>
        </p:spPr>
        <p:txBody>
          <a:bodyPr wrap="square" anchor="t" lIns="0" rIns="0" tIns="0" bIns="0">
            <a:spAutoFit/>
          </a:bodyPr>
          <a:lstStyle/>
          <a:p>
            <a:pPr algn="l">
              <a:lnSpc>
                <a:spcPct val="100000"/>
              </a:lnSpc>
            </a:pPr>
            <a:r>
              <a:rPr sz="2400" b="1">
                <a:solidFill>
                  <a:srgbClr val="5B8DEF"/>
                </a:solidFill>
                <a:latin typeface="Helvetica Neue"/>
              </a:rPr>
              <a:t>Evidence</a:t>
            </a:r>
          </a:p>
        </p:txBody>
      </p:sp>
      <p:sp>
        <p:nvSpPr>
          <p:cNvPr id="7" name="TextBox 6"/>
          <p:cNvSpPr txBox="1"/>
          <p:nvPr/>
        </p:nvSpPr>
        <p:spPr>
          <a:xfrm>
            <a:off x="868680" y="2926080"/>
            <a:ext cx="2953512" cy="1554480"/>
          </a:xfrm>
          <a:prstGeom prst="rect">
            <a:avLst/>
          </a:prstGeom>
          <a:noFill/>
        </p:spPr>
        <p:txBody>
          <a:bodyPr wrap="square" anchor="t" lIns="0" rIns="0" tIns="0" bIns="0">
            <a:spAutoFit/>
          </a:bodyPr>
          <a:lstStyle/>
          <a:p>
            <a:pPr algn="l">
              <a:lnSpc>
                <a:spcPct val="115000"/>
              </a:lnSpc>
            </a:pPr>
            <a:r>
              <a:rPr sz="1800" b="0">
                <a:solidFill>
                  <a:srgbClr val="F5F7FA"/>
                </a:solidFill>
                <a:latin typeface="Helvetica Neue"/>
              </a:rPr>
              <a:t>Can the reviewer trace a field or answer back to the source page?</a:t>
            </a:r>
          </a:p>
        </p:txBody>
      </p:sp>
      <p:sp>
        <p:nvSpPr>
          <p:cNvPr id="8" name="TextBox 7"/>
          <p:cNvSpPr txBox="1"/>
          <p:nvPr/>
        </p:nvSpPr>
        <p:spPr>
          <a:xfrm>
            <a:off x="868680" y="4709160"/>
            <a:ext cx="2953512" cy="868680"/>
          </a:xfrm>
          <a:prstGeom prst="rect">
            <a:avLst/>
          </a:prstGeom>
          <a:noFill/>
        </p:spPr>
        <p:txBody>
          <a:bodyPr wrap="square" anchor="t" lIns="0" rIns="0" tIns="0" bIns="0">
            <a:spAutoFit/>
          </a:bodyPr>
          <a:lstStyle/>
          <a:p>
            <a:pPr algn="l">
              <a:lnSpc>
                <a:spcPct val="110000"/>
              </a:lnSpc>
            </a:pPr>
            <a:r>
              <a:rPr sz="1300" b="1">
                <a:solidFill>
                  <a:srgbClr val="9AA4B5"/>
                </a:solidFill>
                <a:latin typeface="Helvetica Neue"/>
              </a:rPr>
              <a:t>Paperline's answer  </a:t>
            </a:r>
          </a:p>
          <a:p>
            <a:pPr algn="l">
              <a:lnSpc>
                <a:spcPct val="110000"/>
              </a:lnSpc>
            </a:pPr>
            <a:r>
              <a:rPr sz="1500" b="0">
                <a:solidFill>
                  <a:srgbClr val="5B8DEF"/>
                </a:solidFill>
                <a:latin typeface="Helvetica Neue"/>
              </a:rPr>
              <a:t>Quoted snippets + page-level citations</a:t>
            </a:r>
          </a:p>
        </p:txBody>
      </p:sp>
      <p:sp>
        <p:nvSpPr>
          <p:cNvPr id="9" name="Rounded Rectangle 8"/>
          <p:cNvSpPr/>
          <p:nvPr/>
        </p:nvSpPr>
        <p:spPr>
          <a:xfrm>
            <a:off x="4370832" y="1965960"/>
            <a:ext cx="3593592" cy="3749039"/>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0832" y="1965960"/>
            <a:ext cx="64008" cy="3749039"/>
          </a:xfrm>
          <a:prstGeom prst="rect">
            <a:avLst/>
          </a:prstGeom>
          <a:solidFill>
            <a:srgbClr val="3DC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90872" y="2286000"/>
            <a:ext cx="2953512" cy="457200"/>
          </a:xfrm>
          <a:prstGeom prst="rect">
            <a:avLst/>
          </a:prstGeom>
          <a:noFill/>
        </p:spPr>
        <p:txBody>
          <a:bodyPr wrap="square" anchor="t" lIns="0" rIns="0" tIns="0" bIns="0">
            <a:spAutoFit/>
          </a:bodyPr>
          <a:lstStyle/>
          <a:p>
            <a:pPr algn="l">
              <a:lnSpc>
                <a:spcPct val="100000"/>
              </a:lnSpc>
            </a:pPr>
            <a:r>
              <a:rPr sz="2400" b="1">
                <a:solidFill>
                  <a:srgbClr val="3DC98E"/>
                </a:solidFill>
                <a:latin typeface="Helvetica Neue"/>
              </a:rPr>
              <a:t>Structure</a:t>
            </a:r>
          </a:p>
        </p:txBody>
      </p:sp>
      <p:sp>
        <p:nvSpPr>
          <p:cNvPr id="12" name="TextBox 11"/>
          <p:cNvSpPr txBox="1"/>
          <p:nvPr/>
        </p:nvSpPr>
        <p:spPr>
          <a:xfrm>
            <a:off x="4690872" y="2926080"/>
            <a:ext cx="2953512" cy="1554480"/>
          </a:xfrm>
          <a:prstGeom prst="rect">
            <a:avLst/>
          </a:prstGeom>
          <a:noFill/>
        </p:spPr>
        <p:txBody>
          <a:bodyPr wrap="square" anchor="t" lIns="0" rIns="0" tIns="0" bIns="0">
            <a:spAutoFit/>
          </a:bodyPr>
          <a:lstStyle/>
          <a:p>
            <a:pPr algn="l">
              <a:lnSpc>
                <a:spcPct val="115000"/>
              </a:lnSpc>
            </a:pPr>
            <a:r>
              <a:rPr sz="1800" b="0">
                <a:solidFill>
                  <a:srgbClr val="F5F7FA"/>
                </a:solidFill>
                <a:latin typeface="Helvetica Neue"/>
              </a:rPr>
              <a:t>Can the output enter a repeatable workflow instead of remaining chat text?</a:t>
            </a:r>
          </a:p>
        </p:txBody>
      </p:sp>
      <p:sp>
        <p:nvSpPr>
          <p:cNvPr id="13" name="TextBox 12"/>
          <p:cNvSpPr txBox="1"/>
          <p:nvPr/>
        </p:nvSpPr>
        <p:spPr>
          <a:xfrm>
            <a:off x="4690872" y="4709160"/>
            <a:ext cx="2953512" cy="868680"/>
          </a:xfrm>
          <a:prstGeom prst="rect">
            <a:avLst/>
          </a:prstGeom>
          <a:noFill/>
        </p:spPr>
        <p:txBody>
          <a:bodyPr wrap="square" anchor="t" lIns="0" rIns="0" tIns="0" bIns="0">
            <a:spAutoFit/>
          </a:bodyPr>
          <a:lstStyle/>
          <a:p>
            <a:pPr algn="l">
              <a:lnSpc>
                <a:spcPct val="110000"/>
              </a:lnSpc>
            </a:pPr>
            <a:r>
              <a:rPr sz="1300" b="1">
                <a:solidFill>
                  <a:srgbClr val="9AA4B5"/>
                </a:solidFill>
                <a:latin typeface="Helvetica Neue"/>
              </a:rPr>
              <a:t>Paperline's answer  </a:t>
            </a:r>
          </a:p>
          <a:p>
            <a:pPr algn="l">
              <a:lnSpc>
                <a:spcPct val="110000"/>
              </a:lnSpc>
            </a:pPr>
            <a:r>
              <a:rPr sz="1500" b="0">
                <a:solidFill>
                  <a:srgbClr val="3DC98E"/>
                </a:solidFill>
                <a:latin typeface="Helvetica Neue"/>
              </a:rPr>
              <a:t>Schema-guided, runtime-validated extraction</a:t>
            </a:r>
          </a:p>
        </p:txBody>
      </p:sp>
      <p:sp>
        <p:nvSpPr>
          <p:cNvPr id="14" name="Rounded Rectangle 13"/>
          <p:cNvSpPr/>
          <p:nvPr/>
        </p:nvSpPr>
        <p:spPr>
          <a:xfrm>
            <a:off x="8193024" y="1965960"/>
            <a:ext cx="3593592" cy="3749039"/>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93024" y="1965960"/>
            <a:ext cx="64008" cy="3749039"/>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13064" y="2286000"/>
            <a:ext cx="2953512" cy="457200"/>
          </a:xfrm>
          <a:prstGeom prst="rect">
            <a:avLst/>
          </a:prstGeom>
          <a:noFill/>
        </p:spPr>
        <p:txBody>
          <a:bodyPr wrap="square" anchor="t" lIns="0" rIns="0" tIns="0" bIns="0">
            <a:spAutoFit/>
          </a:bodyPr>
          <a:lstStyle/>
          <a:p>
            <a:pPr algn="l">
              <a:lnSpc>
                <a:spcPct val="100000"/>
              </a:lnSpc>
            </a:pPr>
            <a:r>
              <a:rPr sz="2400" b="1">
                <a:solidFill>
                  <a:srgbClr val="F0B429"/>
                </a:solidFill>
                <a:latin typeface="Helvetica Neue"/>
              </a:rPr>
              <a:t>Control</a:t>
            </a:r>
          </a:p>
        </p:txBody>
      </p:sp>
      <p:sp>
        <p:nvSpPr>
          <p:cNvPr id="17" name="TextBox 16"/>
          <p:cNvSpPr txBox="1"/>
          <p:nvPr/>
        </p:nvSpPr>
        <p:spPr>
          <a:xfrm>
            <a:off x="8513064" y="2926080"/>
            <a:ext cx="2953512" cy="1554480"/>
          </a:xfrm>
          <a:prstGeom prst="rect">
            <a:avLst/>
          </a:prstGeom>
          <a:noFill/>
        </p:spPr>
        <p:txBody>
          <a:bodyPr wrap="square" anchor="t" lIns="0" rIns="0" tIns="0" bIns="0">
            <a:spAutoFit/>
          </a:bodyPr>
          <a:lstStyle/>
          <a:p>
            <a:pPr algn="l">
              <a:lnSpc>
                <a:spcPct val="115000"/>
              </a:lnSpc>
            </a:pPr>
            <a:r>
              <a:rPr sz="1800" b="0">
                <a:solidFill>
                  <a:srgbClr val="F5F7FA"/>
                </a:solidFill>
                <a:latin typeface="Helvetica Neue"/>
              </a:rPr>
              <a:t>Can the system prepare actions without silently spending or changing external systems?</a:t>
            </a:r>
          </a:p>
        </p:txBody>
      </p:sp>
      <p:sp>
        <p:nvSpPr>
          <p:cNvPr id="18" name="TextBox 17"/>
          <p:cNvSpPr txBox="1"/>
          <p:nvPr/>
        </p:nvSpPr>
        <p:spPr>
          <a:xfrm>
            <a:off x="8513064" y="4709160"/>
            <a:ext cx="2953512" cy="868680"/>
          </a:xfrm>
          <a:prstGeom prst="rect">
            <a:avLst/>
          </a:prstGeom>
          <a:noFill/>
        </p:spPr>
        <p:txBody>
          <a:bodyPr wrap="square" anchor="t" lIns="0" rIns="0" tIns="0" bIns="0">
            <a:spAutoFit/>
          </a:bodyPr>
          <a:lstStyle/>
          <a:p>
            <a:pPr algn="l">
              <a:lnSpc>
                <a:spcPct val="110000"/>
              </a:lnSpc>
            </a:pPr>
            <a:r>
              <a:rPr sz="1300" b="1">
                <a:solidFill>
                  <a:srgbClr val="9AA4B5"/>
                </a:solidFill>
                <a:latin typeface="Helvetica Neue"/>
              </a:rPr>
              <a:t>Paperline's answer  </a:t>
            </a:r>
          </a:p>
          <a:p>
            <a:pPr algn="l">
              <a:lnSpc>
                <a:spcPct val="110000"/>
              </a:lnSpc>
            </a:pPr>
            <a:r>
              <a:rPr sz="1500" b="0">
                <a:solidFill>
                  <a:srgbClr val="F0B429"/>
                </a:solidFill>
                <a:latin typeface="Helvetica Neue"/>
              </a:rPr>
              <a:t>Human approval before spend or provisioning</a:t>
            </a:r>
          </a:p>
        </p:txBody>
      </p:sp>
      <p:sp>
        <p:nvSpPr>
          <p:cNvPr id="19" name="TextBox 18"/>
          <p:cNvSpPr txBox="1"/>
          <p:nvPr/>
        </p:nvSpPr>
        <p:spPr>
          <a:xfrm>
            <a:off x="11658600" y="6473952"/>
            <a:ext cx="411480" cy="274320"/>
          </a:xfrm>
          <a:prstGeom prst="rect">
            <a:avLst/>
          </a:prstGeom>
          <a:noFill/>
        </p:spPr>
        <p:txBody>
          <a:bodyPr wrap="square" anchor="t" lIns="0" rIns="0" tIns="0" bIns="0">
            <a:spAutoFit/>
          </a:bodyPr>
          <a:lstStyle/>
          <a:p>
            <a:pPr algn="r">
              <a:lnSpc>
                <a:spcPct val="100000"/>
              </a:lnSpc>
            </a:pPr>
            <a:r>
              <a:rPr sz="1200" b="0">
                <a:solidFill>
                  <a:srgbClr val="9AA4B5"/>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anchor="t" lIns="0" rIns="0" tIns="0" bIns="0">
            <a:spAutoFit/>
          </a:bodyPr>
          <a:lstStyle/>
          <a:p>
            <a:pPr algn="l">
              <a:lnSpc>
                <a:spcPct val="100000"/>
              </a:lnSpc>
            </a:pPr>
            <a:r>
              <a:rPr sz="1300" b="1">
                <a:solidFill>
                  <a:srgbClr val="5B8DEF"/>
                </a:solidFill>
                <a:latin typeface="Helvetica Neue"/>
              </a:rPr>
              <a:t>END-TO-END WORKFLOW</a:t>
            </a:r>
          </a:p>
        </p:txBody>
      </p:sp>
      <p:sp>
        <p:nvSpPr>
          <p:cNvPr id="3" name="TextBox 2"/>
          <p:cNvSpPr txBox="1"/>
          <p:nvPr/>
        </p:nvSpPr>
        <p:spPr>
          <a:xfrm>
            <a:off x="548640" y="658368"/>
            <a:ext cx="11064240" cy="777240"/>
          </a:xfrm>
          <a:prstGeom prst="rect">
            <a:avLst/>
          </a:prstGeom>
          <a:noFill/>
        </p:spPr>
        <p:txBody>
          <a:bodyPr wrap="square" anchor="t" lIns="0" rIns="0" tIns="0" bIns="0">
            <a:spAutoFit/>
          </a:bodyPr>
          <a:lstStyle/>
          <a:p>
            <a:pPr algn="l">
              <a:lnSpc>
                <a:spcPct val="100000"/>
              </a:lnSpc>
            </a:pPr>
            <a:r>
              <a:rPr sz="3200" b="1">
                <a:solidFill>
                  <a:srgbClr val="F5F7FA"/>
                </a:solidFill>
                <a:latin typeface="Helvetica Neue"/>
              </a:rPr>
              <a:t>From upload to approval-ready operations</a:t>
            </a:r>
          </a:p>
        </p:txBody>
      </p:sp>
      <p:sp>
        <p:nvSpPr>
          <p:cNvPr id="4" name="Rounded Rectangle 3"/>
          <p:cNvSpPr/>
          <p:nvPr/>
        </p:nvSpPr>
        <p:spPr>
          <a:xfrm>
            <a:off x="7635240" y="384048"/>
            <a:ext cx="4069080" cy="402336"/>
          </a:xfrm>
          <a:prstGeom prst="roundRect">
            <a:avLst>
              <a:gd name="adj" fmla="val 50000"/>
            </a:avLst>
          </a:prstGeom>
          <a:solidFill>
            <a:srgbClr val="1B212E"/>
          </a:solidFill>
          <a:ln w="12700">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wrap="none"/>
          <a:lstStyle/>
          <a:p>
            <a:pPr algn="ctr"/>
            <a:r>
              <a:rPr sz="1100" b="1">
                <a:solidFill>
                  <a:srgbClr val="F0B429"/>
                </a:solidFill>
                <a:latin typeface="Helvetica Neue"/>
              </a:rPr>
              <a:t>Synthetic recruiter demo — not a live customer workflow</a:t>
            </a:r>
          </a:p>
        </p:txBody>
      </p:sp>
      <p:sp>
        <p:nvSpPr>
          <p:cNvPr id="5" name="Rounded Rectangle 4"/>
          <p:cNvSpPr/>
          <p:nvPr/>
        </p:nvSpPr>
        <p:spPr>
          <a:xfrm>
            <a:off x="548640" y="1737360"/>
            <a:ext cx="2578608" cy="228600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93392"/>
            <a:ext cx="2029968" cy="320040"/>
          </a:xfrm>
          <a:prstGeom prst="rect">
            <a:avLst/>
          </a:prstGeom>
          <a:noFill/>
        </p:spPr>
        <p:txBody>
          <a:bodyPr wrap="square" anchor="t" lIns="0" rIns="0" tIns="0" bIns="0">
            <a:spAutoFit/>
          </a:bodyPr>
          <a:lstStyle/>
          <a:p>
            <a:pPr algn="l">
              <a:lnSpc>
                <a:spcPct val="100000"/>
              </a:lnSpc>
            </a:pPr>
            <a:r>
              <a:rPr sz="1400" b="1">
                <a:solidFill>
                  <a:srgbClr val="5B8DEF"/>
                </a:solidFill>
                <a:latin typeface="Helvetica Neue"/>
              </a:rPr>
              <a:t>01</a:t>
            </a:r>
          </a:p>
        </p:txBody>
      </p:sp>
      <p:sp>
        <p:nvSpPr>
          <p:cNvPr id="7" name="TextBox 6"/>
          <p:cNvSpPr txBox="1"/>
          <p:nvPr/>
        </p:nvSpPr>
        <p:spPr>
          <a:xfrm>
            <a:off x="822960" y="2340864"/>
            <a:ext cx="2029968" cy="502920"/>
          </a:xfrm>
          <a:prstGeom prst="rect">
            <a:avLst/>
          </a:prstGeom>
          <a:noFill/>
        </p:spPr>
        <p:txBody>
          <a:bodyPr wrap="square" anchor="t" lIns="0" rIns="0" tIns="0" bIns="0">
            <a:spAutoFit/>
          </a:bodyPr>
          <a:lstStyle/>
          <a:p>
            <a:pPr algn="l">
              <a:lnSpc>
                <a:spcPct val="100000"/>
              </a:lnSpc>
            </a:pPr>
            <a:r>
              <a:rPr sz="2600" b="1">
                <a:solidFill>
                  <a:srgbClr val="F5F7FA"/>
                </a:solidFill>
                <a:latin typeface="Helvetica Neue"/>
              </a:rPr>
              <a:t>Upload</a:t>
            </a:r>
          </a:p>
        </p:txBody>
      </p:sp>
      <p:sp>
        <p:nvSpPr>
          <p:cNvPr id="8" name="TextBox 7"/>
          <p:cNvSpPr txBox="1"/>
          <p:nvPr/>
        </p:nvSpPr>
        <p:spPr>
          <a:xfrm>
            <a:off x="822960" y="2999232"/>
            <a:ext cx="2029968" cy="502920"/>
          </a:xfrm>
          <a:prstGeom prst="rect">
            <a:avLst/>
          </a:prstGeom>
          <a:noFill/>
        </p:spPr>
        <p:txBody>
          <a:bodyPr wrap="square" anchor="t" lIns="0" rIns="0" tIns="0" bIns="0">
            <a:spAutoFit/>
          </a:bodyPr>
          <a:lstStyle/>
          <a:p>
            <a:pPr algn="l">
              <a:lnSpc>
                <a:spcPct val="105000"/>
              </a:lnSpc>
            </a:pPr>
            <a:r>
              <a:rPr sz="1700" b="1">
                <a:solidFill>
                  <a:srgbClr val="3DC98E"/>
                </a:solidFill>
                <a:latin typeface="Helvetica Neue"/>
              </a:rPr>
              <a:t>2 synthetic documents</a:t>
            </a:r>
          </a:p>
        </p:txBody>
      </p:sp>
      <p:sp>
        <p:nvSpPr>
          <p:cNvPr id="9" name="TextBox 8"/>
          <p:cNvSpPr txBox="1"/>
          <p:nvPr/>
        </p:nvSpPr>
        <p:spPr>
          <a:xfrm>
            <a:off x="822960" y="3566160"/>
            <a:ext cx="2029968" cy="365760"/>
          </a:xfrm>
          <a:prstGeom prst="rect">
            <a:avLst/>
          </a:prstGeom>
          <a:noFill/>
        </p:spPr>
        <p:txBody>
          <a:bodyPr wrap="square" anchor="t" lIns="0" rIns="0" tIns="0" bIns="0">
            <a:spAutoFit/>
          </a:bodyPr>
          <a:lstStyle/>
          <a:p>
            <a:pPr algn="l">
              <a:lnSpc>
                <a:spcPct val="100000"/>
              </a:lnSpc>
            </a:pPr>
            <a:r>
              <a:rPr sz="1300" b="0">
                <a:solidFill>
                  <a:srgbClr val="9AA4B5"/>
                </a:solidFill>
                <a:latin typeface="Helvetica Neue"/>
              </a:rPr>
              <a:t>MSA + vendor invoice</a:t>
            </a:r>
          </a:p>
        </p:txBody>
      </p:sp>
      <p:sp>
        <p:nvSpPr>
          <p:cNvPr id="10" name="Right Arrow 9"/>
          <p:cNvSpPr/>
          <p:nvPr/>
        </p:nvSpPr>
        <p:spPr>
          <a:xfrm>
            <a:off x="3145536" y="2697480"/>
            <a:ext cx="256032" cy="365760"/>
          </a:xfrm>
          <a:prstGeom prst="rightArrow">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19856" y="1737360"/>
            <a:ext cx="2578608" cy="228600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1993392"/>
            <a:ext cx="2029968" cy="320040"/>
          </a:xfrm>
          <a:prstGeom prst="rect">
            <a:avLst/>
          </a:prstGeom>
          <a:noFill/>
        </p:spPr>
        <p:txBody>
          <a:bodyPr wrap="square" anchor="t" lIns="0" rIns="0" tIns="0" bIns="0">
            <a:spAutoFit/>
          </a:bodyPr>
          <a:lstStyle/>
          <a:p>
            <a:pPr algn="l">
              <a:lnSpc>
                <a:spcPct val="100000"/>
              </a:lnSpc>
            </a:pPr>
            <a:r>
              <a:rPr sz="1400" b="1">
                <a:solidFill>
                  <a:srgbClr val="5B8DEF"/>
                </a:solidFill>
                <a:latin typeface="Helvetica Neue"/>
              </a:rPr>
              <a:t>02</a:t>
            </a:r>
          </a:p>
        </p:txBody>
      </p:sp>
      <p:sp>
        <p:nvSpPr>
          <p:cNvPr id="13" name="TextBox 12"/>
          <p:cNvSpPr txBox="1"/>
          <p:nvPr/>
        </p:nvSpPr>
        <p:spPr>
          <a:xfrm>
            <a:off x="3694176" y="2340864"/>
            <a:ext cx="2029968" cy="502920"/>
          </a:xfrm>
          <a:prstGeom prst="rect">
            <a:avLst/>
          </a:prstGeom>
          <a:noFill/>
        </p:spPr>
        <p:txBody>
          <a:bodyPr wrap="square" anchor="t" lIns="0" rIns="0" tIns="0" bIns="0">
            <a:spAutoFit/>
          </a:bodyPr>
          <a:lstStyle/>
          <a:p>
            <a:pPr algn="l">
              <a:lnSpc>
                <a:spcPct val="100000"/>
              </a:lnSpc>
            </a:pPr>
            <a:r>
              <a:rPr sz="2600" b="1">
                <a:solidFill>
                  <a:srgbClr val="F5F7FA"/>
                </a:solidFill>
                <a:latin typeface="Helvetica Neue"/>
              </a:rPr>
              <a:t>Extract</a:t>
            </a:r>
          </a:p>
        </p:txBody>
      </p:sp>
      <p:sp>
        <p:nvSpPr>
          <p:cNvPr id="14" name="TextBox 13"/>
          <p:cNvSpPr txBox="1"/>
          <p:nvPr/>
        </p:nvSpPr>
        <p:spPr>
          <a:xfrm>
            <a:off x="3694176" y="2999232"/>
            <a:ext cx="2029968" cy="502920"/>
          </a:xfrm>
          <a:prstGeom prst="rect">
            <a:avLst/>
          </a:prstGeom>
          <a:noFill/>
        </p:spPr>
        <p:txBody>
          <a:bodyPr wrap="square" anchor="t" lIns="0" rIns="0" tIns="0" bIns="0">
            <a:spAutoFit/>
          </a:bodyPr>
          <a:lstStyle/>
          <a:p>
            <a:pPr algn="l">
              <a:lnSpc>
                <a:spcPct val="105000"/>
              </a:lnSpc>
            </a:pPr>
            <a:r>
              <a:rPr sz="1700" b="1">
                <a:solidFill>
                  <a:srgbClr val="3DC98E"/>
                </a:solidFill>
                <a:latin typeface="Helvetica Neue"/>
              </a:rPr>
              <a:t>4 cited fields</a:t>
            </a:r>
          </a:p>
        </p:txBody>
      </p:sp>
      <p:sp>
        <p:nvSpPr>
          <p:cNvPr id="15" name="TextBox 14"/>
          <p:cNvSpPr txBox="1"/>
          <p:nvPr/>
        </p:nvSpPr>
        <p:spPr>
          <a:xfrm>
            <a:off x="3694176" y="3566160"/>
            <a:ext cx="2029968" cy="365760"/>
          </a:xfrm>
          <a:prstGeom prst="rect">
            <a:avLst/>
          </a:prstGeom>
          <a:noFill/>
        </p:spPr>
        <p:txBody>
          <a:bodyPr wrap="square" anchor="t" lIns="0" rIns="0" tIns="0" bIns="0">
            <a:spAutoFit/>
          </a:bodyPr>
          <a:lstStyle/>
          <a:p>
            <a:pPr algn="l">
              <a:lnSpc>
                <a:spcPct val="100000"/>
              </a:lnSpc>
            </a:pPr>
            <a:r>
              <a:rPr sz="1300" b="0">
                <a:solidFill>
                  <a:srgbClr val="9AA4B5"/>
                </a:solidFill>
                <a:latin typeface="Helvetica Neue"/>
              </a:rPr>
              <a:t>values · quotes · pages</a:t>
            </a:r>
          </a:p>
        </p:txBody>
      </p:sp>
      <p:sp>
        <p:nvSpPr>
          <p:cNvPr id="16" name="Right Arrow 15"/>
          <p:cNvSpPr/>
          <p:nvPr/>
        </p:nvSpPr>
        <p:spPr>
          <a:xfrm>
            <a:off x="6016752" y="2697480"/>
            <a:ext cx="256032" cy="365760"/>
          </a:xfrm>
          <a:prstGeom prst="rightArrow">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91072" y="1737360"/>
            <a:ext cx="2578608" cy="228600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1993392"/>
            <a:ext cx="2029968" cy="320040"/>
          </a:xfrm>
          <a:prstGeom prst="rect">
            <a:avLst/>
          </a:prstGeom>
          <a:noFill/>
        </p:spPr>
        <p:txBody>
          <a:bodyPr wrap="square" anchor="t" lIns="0" rIns="0" tIns="0" bIns="0">
            <a:spAutoFit/>
          </a:bodyPr>
          <a:lstStyle/>
          <a:p>
            <a:pPr algn="l">
              <a:lnSpc>
                <a:spcPct val="100000"/>
              </a:lnSpc>
            </a:pPr>
            <a:r>
              <a:rPr sz="1400" b="1">
                <a:solidFill>
                  <a:srgbClr val="5B8DEF"/>
                </a:solidFill>
                <a:latin typeface="Helvetica Neue"/>
              </a:rPr>
              <a:t>03</a:t>
            </a:r>
          </a:p>
        </p:txBody>
      </p:sp>
      <p:sp>
        <p:nvSpPr>
          <p:cNvPr id="19" name="TextBox 18"/>
          <p:cNvSpPr txBox="1"/>
          <p:nvPr/>
        </p:nvSpPr>
        <p:spPr>
          <a:xfrm>
            <a:off x="6565392" y="2340864"/>
            <a:ext cx="2029968" cy="502920"/>
          </a:xfrm>
          <a:prstGeom prst="rect">
            <a:avLst/>
          </a:prstGeom>
          <a:noFill/>
        </p:spPr>
        <p:txBody>
          <a:bodyPr wrap="square" anchor="t" lIns="0" rIns="0" tIns="0" bIns="0">
            <a:spAutoFit/>
          </a:bodyPr>
          <a:lstStyle/>
          <a:p>
            <a:pPr algn="l">
              <a:lnSpc>
                <a:spcPct val="100000"/>
              </a:lnSpc>
            </a:pPr>
            <a:r>
              <a:rPr sz="2600" b="1">
                <a:solidFill>
                  <a:srgbClr val="F5F7FA"/>
                </a:solidFill>
                <a:latin typeface="Helvetica Neue"/>
              </a:rPr>
              <a:t>Approve</a:t>
            </a:r>
          </a:p>
        </p:txBody>
      </p:sp>
      <p:sp>
        <p:nvSpPr>
          <p:cNvPr id="20" name="TextBox 19"/>
          <p:cNvSpPr txBox="1"/>
          <p:nvPr/>
        </p:nvSpPr>
        <p:spPr>
          <a:xfrm>
            <a:off x="6565392" y="2999232"/>
            <a:ext cx="2029968" cy="502920"/>
          </a:xfrm>
          <a:prstGeom prst="rect">
            <a:avLst/>
          </a:prstGeom>
          <a:noFill/>
        </p:spPr>
        <p:txBody>
          <a:bodyPr wrap="square" anchor="t" lIns="0" rIns="0" tIns="0" bIns="0">
            <a:spAutoFit/>
          </a:bodyPr>
          <a:lstStyle/>
          <a:p>
            <a:pPr algn="l">
              <a:lnSpc>
                <a:spcPct val="105000"/>
              </a:lnSpc>
            </a:pPr>
            <a:r>
              <a:rPr sz="1700" b="1">
                <a:solidFill>
                  <a:srgbClr val="3DC98E"/>
                </a:solidFill>
                <a:latin typeface="Helvetica Neue"/>
              </a:rPr>
              <a:t>3 recommended actions</a:t>
            </a:r>
          </a:p>
        </p:txBody>
      </p:sp>
      <p:sp>
        <p:nvSpPr>
          <p:cNvPr id="21" name="TextBox 20"/>
          <p:cNvSpPr txBox="1"/>
          <p:nvPr/>
        </p:nvSpPr>
        <p:spPr>
          <a:xfrm>
            <a:off x="6565392" y="3566160"/>
            <a:ext cx="2029968" cy="365760"/>
          </a:xfrm>
          <a:prstGeom prst="rect">
            <a:avLst/>
          </a:prstGeom>
          <a:noFill/>
        </p:spPr>
        <p:txBody>
          <a:bodyPr wrap="square" anchor="t" lIns="0" rIns="0" tIns="0" bIns="0">
            <a:spAutoFit/>
          </a:bodyPr>
          <a:lstStyle/>
          <a:p>
            <a:pPr algn="l">
              <a:lnSpc>
                <a:spcPct val="100000"/>
              </a:lnSpc>
            </a:pPr>
            <a:r>
              <a:rPr sz="1300" b="0">
                <a:solidFill>
                  <a:srgbClr val="9AA4B5"/>
                </a:solidFill>
                <a:latin typeface="Helvetica Neue"/>
              </a:rPr>
              <a:t>owners + approval states</a:t>
            </a:r>
          </a:p>
        </p:txBody>
      </p:sp>
      <p:sp>
        <p:nvSpPr>
          <p:cNvPr id="22" name="Right Arrow 21"/>
          <p:cNvSpPr/>
          <p:nvPr/>
        </p:nvSpPr>
        <p:spPr>
          <a:xfrm>
            <a:off x="8887968" y="2697480"/>
            <a:ext cx="256032" cy="365760"/>
          </a:xfrm>
          <a:prstGeom prst="rightArrow">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162288" y="1737360"/>
            <a:ext cx="2578608" cy="228600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36608" y="1993392"/>
            <a:ext cx="2029968" cy="320040"/>
          </a:xfrm>
          <a:prstGeom prst="rect">
            <a:avLst/>
          </a:prstGeom>
          <a:noFill/>
        </p:spPr>
        <p:txBody>
          <a:bodyPr wrap="square" anchor="t" lIns="0" rIns="0" tIns="0" bIns="0">
            <a:spAutoFit/>
          </a:bodyPr>
          <a:lstStyle/>
          <a:p>
            <a:pPr algn="l">
              <a:lnSpc>
                <a:spcPct val="100000"/>
              </a:lnSpc>
            </a:pPr>
            <a:r>
              <a:rPr sz="1400" b="1">
                <a:solidFill>
                  <a:srgbClr val="5B8DEF"/>
                </a:solidFill>
                <a:latin typeface="Helvetica Neue"/>
              </a:rPr>
              <a:t>04</a:t>
            </a:r>
          </a:p>
        </p:txBody>
      </p:sp>
      <p:sp>
        <p:nvSpPr>
          <p:cNvPr id="25" name="TextBox 24"/>
          <p:cNvSpPr txBox="1"/>
          <p:nvPr/>
        </p:nvSpPr>
        <p:spPr>
          <a:xfrm>
            <a:off x="9436608" y="2340864"/>
            <a:ext cx="2029968" cy="502920"/>
          </a:xfrm>
          <a:prstGeom prst="rect">
            <a:avLst/>
          </a:prstGeom>
          <a:noFill/>
        </p:spPr>
        <p:txBody>
          <a:bodyPr wrap="square" anchor="t" lIns="0" rIns="0" tIns="0" bIns="0">
            <a:spAutoFit/>
          </a:bodyPr>
          <a:lstStyle/>
          <a:p>
            <a:pPr algn="l">
              <a:lnSpc>
                <a:spcPct val="100000"/>
              </a:lnSpc>
            </a:pPr>
            <a:r>
              <a:rPr sz="2600" b="1">
                <a:solidFill>
                  <a:srgbClr val="F5F7FA"/>
                </a:solidFill>
                <a:latin typeface="Helvetica Neue"/>
              </a:rPr>
              <a:t>Operate</a:t>
            </a:r>
          </a:p>
        </p:txBody>
      </p:sp>
      <p:sp>
        <p:nvSpPr>
          <p:cNvPr id="26" name="TextBox 25"/>
          <p:cNvSpPr txBox="1"/>
          <p:nvPr/>
        </p:nvSpPr>
        <p:spPr>
          <a:xfrm>
            <a:off x="9436608" y="2999232"/>
            <a:ext cx="2029968" cy="502920"/>
          </a:xfrm>
          <a:prstGeom prst="rect">
            <a:avLst/>
          </a:prstGeom>
          <a:noFill/>
        </p:spPr>
        <p:txBody>
          <a:bodyPr wrap="square" anchor="t" lIns="0" rIns="0" tIns="0" bIns="0">
            <a:spAutoFit/>
          </a:bodyPr>
          <a:lstStyle/>
          <a:p>
            <a:pPr algn="l">
              <a:lnSpc>
                <a:spcPct val="105000"/>
              </a:lnSpc>
            </a:pPr>
            <a:r>
              <a:rPr sz="1700" b="1">
                <a:solidFill>
                  <a:srgbClr val="F0B429"/>
                </a:solidFill>
                <a:latin typeface="Helvetica Neue"/>
              </a:rPr>
              <a:t>Stripe test-mode preview</a:t>
            </a:r>
          </a:p>
        </p:txBody>
      </p:sp>
      <p:sp>
        <p:nvSpPr>
          <p:cNvPr id="27" name="TextBox 26"/>
          <p:cNvSpPr txBox="1"/>
          <p:nvPr/>
        </p:nvSpPr>
        <p:spPr>
          <a:xfrm>
            <a:off x="9436608" y="3566160"/>
            <a:ext cx="2029968" cy="365760"/>
          </a:xfrm>
          <a:prstGeom prst="rect">
            <a:avLst/>
          </a:prstGeom>
          <a:noFill/>
        </p:spPr>
        <p:txBody>
          <a:bodyPr wrap="square" anchor="t" lIns="0" rIns="0" tIns="0" bIns="0">
            <a:spAutoFit/>
          </a:bodyPr>
          <a:lstStyle/>
          <a:p>
            <a:pPr algn="l">
              <a:lnSpc>
                <a:spcPct val="100000"/>
              </a:lnSpc>
            </a:pPr>
            <a:r>
              <a:rPr sz="1300" b="0">
                <a:solidFill>
                  <a:srgbClr val="9AA4B5"/>
                </a:solidFill>
                <a:latin typeface="Helvetica Neue"/>
              </a:rPr>
              <a:t>$6.00 · 20 pages · paused</a:t>
            </a:r>
          </a:p>
        </p:txBody>
      </p:sp>
      <p:pic>
        <p:nvPicPr>
          <p:cNvPr id="28" name="Picture 27" descr="Ops Agent metric strip: 2 documents, 4 cited fields, 3 approval-ready agent actions, $6.00 Stripe test mode billing preview"/>
          <p:cNvPicPr>
            <a:picLocks noChangeAspect="1"/>
          </p:cNvPicPr>
          <p:nvPr/>
        </p:nvPicPr>
        <p:blipFill>
          <a:blip r:embed="rId2"/>
          <a:stretch>
            <a:fillRect/>
          </a:stretch>
        </p:blipFill>
        <p:spPr>
          <a:xfrm>
            <a:off x="548640" y="4434840"/>
            <a:ext cx="11091672" cy="1408312"/>
          </a:xfrm>
          <a:prstGeom prst="rect">
            <a:avLst/>
          </a:prstGeom>
          <a:ln w="12700">
            <a:solidFill>
              <a:srgbClr val="2A3140"/>
            </a:solidFill>
          </a:ln>
        </p:spPr>
      </p:pic>
      <p:sp>
        <p:nvSpPr>
          <p:cNvPr id="29" name="TextBox 28"/>
          <p:cNvSpPr txBox="1"/>
          <p:nvPr/>
        </p:nvSpPr>
        <p:spPr>
          <a:xfrm>
            <a:off x="548640" y="6035040"/>
            <a:ext cx="11064240" cy="365760"/>
          </a:xfrm>
          <a:prstGeom prst="rect">
            <a:avLst/>
          </a:prstGeom>
          <a:noFill/>
        </p:spPr>
        <p:txBody>
          <a:bodyPr wrap="square" anchor="t" lIns="0" rIns="0" tIns="0" bIns="0">
            <a:spAutoFit/>
          </a:bodyPr>
          <a:lstStyle/>
          <a:p>
            <a:pPr algn="l">
              <a:lnSpc>
                <a:spcPct val="100000"/>
              </a:lnSpc>
            </a:pPr>
            <a:r>
              <a:rPr sz="1400" b="0">
                <a:solidFill>
                  <a:srgbClr val="9AA4B5"/>
                </a:solidFill>
                <a:latin typeface="Helvetica Neue"/>
              </a:rPr>
              <a:t>Live demo route: paperline-xi.vercel.app/ops-agent — one reviewer-friendly surface for the whole product story.</a:t>
            </a:r>
          </a:p>
        </p:txBody>
      </p:sp>
      <p:sp>
        <p:nvSpPr>
          <p:cNvPr id="30" name="TextBox 29"/>
          <p:cNvSpPr txBox="1"/>
          <p:nvPr/>
        </p:nvSpPr>
        <p:spPr>
          <a:xfrm>
            <a:off x="11658600" y="6473952"/>
            <a:ext cx="411480" cy="274320"/>
          </a:xfrm>
          <a:prstGeom prst="rect">
            <a:avLst/>
          </a:prstGeom>
          <a:noFill/>
        </p:spPr>
        <p:txBody>
          <a:bodyPr wrap="square" anchor="t" lIns="0" rIns="0" tIns="0" bIns="0">
            <a:spAutoFit/>
          </a:bodyPr>
          <a:lstStyle/>
          <a:p>
            <a:pPr algn="r">
              <a:lnSpc>
                <a:spcPct val="100000"/>
              </a:lnSpc>
            </a:pPr>
            <a:r>
              <a:rPr sz="1200" b="0">
                <a:solidFill>
                  <a:srgbClr val="9AA4B5"/>
                </a:solidFill>
                <a:latin typeface="Helvetica Neue"/>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anchor="t" lIns="0" rIns="0" tIns="0" bIns="0">
            <a:spAutoFit/>
          </a:bodyPr>
          <a:lstStyle/>
          <a:p>
            <a:pPr algn="l">
              <a:lnSpc>
                <a:spcPct val="100000"/>
              </a:lnSpc>
            </a:pPr>
            <a:r>
              <a:rPr sz="1300" b="1">
                <a:solidFill>
                  <a:srgbClr val="5B8DEF"/>
                </a:solidFill>
                <a:latin typeface="Helvetica Neue"/>
              </a:rPr>
              <a:t>TRUSTWORTHY EXTRACTION</a:t>
            </a:r>
          </a:p>
        </p:txBody>
      </p:sp>
      <p:sp>
        <p:nvSpPr>
          <p:cNvPr id="3" name="TextBox 2"/>
          <p:cNvSpPr txBox="1"/>
          <p:nvPr/>
        </p:nvSpPr>
        <p:spPr>
          <a:xfrm>
            <a:off x="548640" y="658368"/>
            <a:ext cx="11064240" cy="777240"/>
          </a:xfrm>
          <a:prstGeom prst="rect">
            <a:avLst/>
          </a:prstGeom>
          <a:noFill/>
        </p:spPr>
        <p:txBody>
          <a:bodyPr wrap="square" anchor="t" lIns="0" rIns="0" tIns="0" bIns="0">
            <a:spAutoFit/>
          </a:bodyPr>
          <a:lstStyle/>
          <a:p>
            <a:pPr algn="l">
              <a:lnSpc>
                <a:spcPct val="100000"/>
              </a:lnSpc>
            </a:pPr>
            <a:r>
              <a:rPr sz="3200" b="1">
                <a:solidFill>
                  <a:srgbClr val="F5F7FA"/>
                </a:solidFill>
                <a:latin typeface="Helvetica Neue"/>
              </a:rPr>
              <a:t>Facts with receipts</a:t>
            </a:r>
          </a:p>
        </p:txBody>
      </p:sp>
      <p:pic>
        <p:nvPicPr>
          <p:cNvPr id="4" name="Picture 3" descr="Cited extraction cards with confidence labels, quoted snippets and page references, next to recommended actions awaiting human approval"/>
          <p:cNvPicPr>
            <a:picLocks noChangeAspect="1"/>
          </p:cNvPicPr>
          <p:nvPr/>
        </p:nvPicPr>
        <p:blipFill>
          <a:blip r:embed="rId2"/>
          <a:stretch>
            <a:fillRect/>
          </a:stretch>
        </p:blipFill>
        <p:spPr>
          <a:xfrm>
            <a:off x="548640" y="1481328"/>
            <a:ext cx="7731711" cy="4297680"/>
          </a:xfrm>
          <a:prstGeom prst="rect">
            <a:avLst/>
          </a:prstGeom>
          <a:ln w="12700">
            <a:solidFill>
              <a:srgbClr val="2A3140"/>
            </a:solidFill>
          </a:ln>
        </p:spPr>
      </p:pic>
      <p:sp>
        <p:nvSpPr>
          <p:cNvPr id="5" name="Rounded Rectangle 4"/>
          <p:cNvSpPr/>
          <p:nvPr/>
        </p:nvSpPr>
        <p:spPr>
          <a:xfrm>
            <a:off x="8686800" y="1481328"/>
            <a:ext cx="2971800" cy="896112"/>
          </a:xfrm>
          <a:prstGeom prst="roundRect">
            <a:avLst>
              <a:gd name="adj" fmla="val 8000"/>
            </a:avLst>
          </a:prstGeom>
          <a:solidFill>
            <a:srgbClr val="1B212E"/>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1581912"/>
            <a:ext cx="2697480" cy="320040"/>
          </a:xfrm>
          <a:prstGeom prst="rect">
            <a:avLst/>
          </a:prstGeom>
          <a:noFill/>
        </p:spPr>
        <p:txBody>
          <a:bodyPr wrap="none" anchor="t" lIns="0" rIns="0" tIns="0" bIns="0">
            <a:spAutoFit/>
          </a:bodyPr>
          <a:lstStyle/>
          <a:p>
            <a:pPr algn="l">
              <a:lnSpc>
                <a:spcPct val="100000"/>
              </a:lnSpc>
            </a:pPr>
            <a:r>
              <a:rPr sz="1400" b="1">
                <a:solidFill>
                  <a:srgbClr val="5B8DEF"/>
                </a:solidFill>
                <a:latin typeface="Helvetica Neue"/>
              </a:rPr>
              <a:t>Page-level references</a:t>
            </a:r>
          </a:p>
        </p:txBody>
      </p:sp>
      <p:sp>
        <p:nvSpPr>
          <p:cNvPr id="7" name="TextBox 6"/>
          <p:cNvSpPr txBox="1"/>
          <p:nvPr/>
        </p:nvSpPr>
        <p:spPr>
          <a:xfrm>
            <a:off x="8869680" y="1901952"/>
            <a:ext cx="2651760" cy="457200"/>
          </a:xfrm>
          <a:prstGeom prst="rect">
            <a:avLst/>
          </a:prstGeom>
          <a:noFill/>
        </p:spPr>
        <p:txBody>
          <a:bodyPr wrap="square" anchor="t" lIns="0" rIns="0" tIns="0" bIns="0">
            <a:spAutoFit/>
          </a:bodyPr>
          <a:lstStyle/>
          <a:p>
            <a:pPr algn="l">
              <a:lnSpc>
                <a:spcPct val="100000"/>
              </a:lnSpc>
            </a:pPr>
            <a:r>
              <a:rPr sz="1200" b="0">
                <a:solidFill>
                  <a:srgbClr val="9AA4B5"/>
                </a:solidFill>
                <a:latin typeface="Helvetica Neue"/>
              </a:rPr>
              <a:t>Every field cites its source document and page.</a:t>
            </a:r>
          </a:p>
        </p:txBody>
      </p:sp>
      <p:sp>
        <p:nvSpPr>
          <p:cNvPr id="8" name="Rounded Rectangle 7"/>
          <p:cNvSpPr/>
          <p:nvPr/>
        </p:nvSpPr>
        <p:spPr>
          <a:xfrm>
            <a:off x="8686800" y="2514599"/>
            <a:ext cx="2971800" cy="896112"/>
          </a:xfrm>
          <a:prstGeom prst="roundRect">
            <a:avLst>
              <a:gd name="adj" fmla="val 8000"/>
            </a:avLst>
          </a:prstGeom>
          <a:solidFill>
            <a:srgbClr val="1B212E"/>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0" y="2615183"/>
            <a:ext cx="2697480" cy="320040"/>
          </a:xfrm>
          <a:prstGeom prst="rect">
            <a:avLst/>
          </a:prstGeom>
          <a:noFill/>
        </p:spPr>
        <p:txBody>
          <a:bodyPr wrap="none" anchor="t" lIns="0" rIns="0" tIns="0" bIns="0">
            <a:spAutoFit/>
          </a:bodyPr>
          <a:lstStyle/>
          <a:p>
            <a:pPr algn="l">
              <a:lnSpc>
                <a:spcPct val="100000"/>
              </a:lnSpc>
            </a:pPr>
            <a:r>
              <a:rPr sz="1400" b="1">
                <a:solidFill>
                  <a:srgbClr val="5B8DEF"/>
                </a:solidFill>
                <a:latin typeface="Helvetica Neue"/>
              </a:rPr>
              <a:t>Quoted source snippets</a:t>
            </a:r>
          </a:p>
        </p:txBody>
      </p:sp>
      <p:sp>
        <p:nvSpPr>
          <p:cNvPr id="10" name="TextBox 9"/>
          <p:cNvSpPr txBox="1"/>
          <p:nvPr/>
        </p:nvSpPr>
        <p:spPr>
          <a:xfrm>
            <a:off x="8869680" y="2935223"/>
            <a:ext cx="2651760" cy="457200"/>
          </a:xfrm>
          <a:prstGeom prst="rect">
            <a:avLst/>
          </a:prstGeom>
          <a:noFill/>
        </p:spPr>
        <p:txBody>
          <a:bodyPr wrap="square" anchor="t" lIns="0" rIns="0" tIns="0" bIns="0">
            <a:spAutoFit/>
          </a:bodyPr>
          <a:lstStyle/>
          <a:p>
            <a:pPr algn="l">
              <a:lnSpc>
                <a:spcPct val="100000"/>
              </a:lnSpc>
            </a:pPr>
            <a:r>
              <a:rPr sz="1200" b="0">
                <a:solidFill>
                  <a:srgbClr val="9AA4B5"/>
                </a:solidFill>
                <a:latin typeface="Helvetica Neue"/>
              </a:rPr>
              <a:t>The exact supporting text ships with the value.</a:t>
            </a:r>
          </a:p>
        </p:txBody>
      </p:sp>
      <p:sp>
        <p:nvSpPr>
          <p:cNvPr id="11" name="Rounded Rectangle 10"/>
          <p:cNvSpPr/>
          <p:nvPr/>
        </p:nvSpPr>
        <p:spPr>
          <a:xfrm>
            <a:off x="8686800" y="3547870"/>
            <a:ext cx="2971800" cy="896112"/>
          </a:xfrm>
          <a:prstGeom prst="roundRect">
            <a:avLst>
              <a:gd name="adj" fmla="val 8000"/>
            </a:avLst>
          </a:prstGeom>
          <a:solidFill>
            <a:srgbClr val="1B212E"/>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0" y="3648454"/>
            <a:ext cx="2697480" cy="320040"/>
          </a:xfrm>
          <a:prstGeom prst="rect">
            <a:avLst/>
          </a:prstGeom>
          <a:noFill/>
        </p:spPr>
        <p:txBody>
          <a:bodyPr wrap="none" anchor="t" lIns="0" rIns="0" tIns="0" bIns="0">
            <a:spAutoFit/>
          </a:bodyPr>
          <a:lstStyle/>
          <a:p>
            <a:pPr algn="l">
              <a:lnSpc>
                <a:spcPct val="100000"/>
              </a:lnSpc>
            </a:pPr>
            <a:r>
              <a:rPr sz="1400" b="1">
                <a:solidFill>
                  <a:srgbClr val="3DC98E"/>
                </a:solidFill>
                <a:latin typeface="Helvetica Neue"/>
              </a:rPr>
              <a:t>Confidence = review signal</a:t>
            </a:r>
          </a:p>
        </p:txBody>
      </p:sp>
      <p:sp>
        <p:nvSpPr>
          <p:cNvPr id="13" name="TextBox 12"/>
          <p:cNvSpPr txBox="1"/>
          <p:nvPr/>
        </p:nvSpPr>
        <p:spPr>
          <a:xfrm>
            <a:off x="8869680" y="3968494"/>
            <a:ext cx="2651760" cy="457200"/>
          </a:xfrm>
          <a:prstGeom prst="rect">
            <a:avLst/>
          </a:prstGeom>
          <a:noFill/>
        </p:spPr>
        <p:txBody>
          <a:bodyPr wrap="square" anchor="t" lIns="0" rIns="0" tIns="0" bIns="0">
            <a:spAutoFit/>
          </a:bodyPr>
          <a:lstStyle/>
          <a:p>
            <a:pPr algn="l">
              <a:lnSpc>
                <a:spcPct val="100000"/>
              </a:lnSpc>
            </a:pPr>
            <a:r>
              <a:rPr sz="1200" b="0">
                <a:solidFill>
                  <a:srgbClr val="9AA4B5"/>
                </a:solidFill>
                <a:latin typeface="Helvetica Neue"/>
              </a:rPr>
              <a:t>Labels prioritize review—not a guarantee.</a:t>
            </a:r>
          </a:p>
        </p:txBody>
      </p:sp>
      <p:sp>
        <p:nvSpPr>
          <p:cNvPr id="14" name="Rounded Rectangle 13"/>
          <p:cNvSpPr/>
          <p:nvPr/>
        </p:nvSpPr>
        <p:spPr>
          <a:xfrm>
            <a:off x="8686800" y="4581141"/>
            <a:ext cx="2971800" cy="896112"/>
          </a:xfrm>
          <a:prstGeom prst="roundRect">
            <a:avLst>
              <a:gd name="adj" fmla="val 8000"/>
            </a:avLst>
          </a:prstGeom>
          <a:solidFill>
            <a:srgbClr val="1B212E"/>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0" y="4681725"/>
            <a:ext cx="2697480" cy="320040"/>
          </a:xfrm>
          <a:prstGeom prst="rect">
            <a:avLst/>
          </a:prstGeom>
          <a:noFill/>
        </p:spPr>
        <p:txBody>
          <a:bodyPr wrap="none" anchor="t" lIns="0" rIns="0" tIns="0" bIns="0">
            <a:spAutoFit/>
          </a:bodyPr>
          <a:lstStyle/>
          <a:p>
            <a:pPr algn="l">
              <a:lnSpc>
                <a:spcPct val="100000"/>
              </a:lnSpc>
            </a:pPr>
            <a:r>
              <a:rPr sz="1400" b="1">
                <a:solidFill>
                  <a:srgbClr val="F0B429"/>
                </a:solidFill>
                <a:latin typeface="Helvetica Neue"/>
              </a:rPr>
              <a:t>Human review flag</a:t>
            </a:r>
          </a:p>
        </p:txBody>
      </p:sp>
      <p:sp>
        <p:nvSpPr>
          <p:cNvPr id="16" name="TextBox 15"/>
          <p:cNvSpPr txBox="1"/>
          <p:nvPr/>
        </p:nvSpPr>
        <p:spPr>
          <a:xfrm>
            <a:off x="8869680" y="5001765"/>
            <a:ext cx="2651760" cy="457200"/>
          </a:xfrm>
          <a:prstGeom prst="rect">
            <a:avLst/>
          </a:prstGeom>
          <a:noFill/>
        </p:spPr>
        <p:txBody>
          <a:bodyPr wrap="square" anchor="t" lIns="0" rIns="0" tIns="0" bIns="0">
            <a:spAutoFit/>
          </a:bodyPr>
          <a:lstStyle/>
          <a:p>
            <a:pPr algn="l">
              <a:lnSpc>
                <a:spcPct val="100000"/>
              </a:lnSpc>
            </a:pPr>
            <a:r>
              <a:rPr sz="1200" b="0">
                <a:solidFill>
                  <a:srgbClr val="9AA4B5"/>
                </a:solidFill>
                <a:latin typeface="Helvetica Neue"/>
              </a:rPr>
              <a:t>Auto-renewal clause is explicitly flagged for a person.</a:t>
            </a:r>
          </a:p>
        </p:txBody>
      </p:sp>
      <p:sp>
        <p:nvSpPr>
          <p:cNvPr id="17" name="Rounded Rectangle 16"/>
          <p:cNvSpPr/>
          <p:nvPr/>
        </p:nvSpPr>
        <p:spPr>
          <a:xfrm>
            <a:off x="548640" y="5989320"/>
            <a:ext cx="6949440" cy="402336"/>
          </a:xfrm>
          <a:prstGeom prst="roundRect">
            <a:avLst>
              <a:gd name="adj" fmla="val 50000"/>
            </a:avLst>
          </a:prstGeom>
          <a:solidFill>
            <a:srgbClr val="1B212E"/>
          </a:solidFill>
          <a:ln w="12700">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wrap="none"/>
          <a:lstStyle/>
          <a:p>
            <a:pPr algn="ctr"/>
            <a:r>
              <a:rPr sz="1300" b="1">
                <a:solidFill>
                  <a:srgbClr val="F0B429"/>
                </a:solidFill>
                <a:latin typeface="Helvetica Neue"/>
              </a:rPr>
              <a:t>Displayed documents, values, and confidence labels are synthetic fixtures</a:t>
            </a:r>
          </a:p>
        </p:txBody>
      </p:sp>
      <p:sp>
        <p:nvSpPr>
          <p:cNvPr id="18" name="TextBox 17"/>
          <p:cNvSpPr txBox="1"/>
          <p:nvPr/>
        </p:nvSpPr>
        <p:spPr>
          <a:xfrm>
            <a:off x="11658600" y="6473952"/>
            <a:ext cx="411480" cy="274320"/>
          </a:xfrm>
          <a:prstGeom prst="rect">
            <a:avLst/>
          </a:prstGeom>
          <a:noFill/>
        </p:spPr>
        <p:txBody>
          <a:bodyPr wrap="square" anchor="t" lIns="0" rIns="0" tIns="0" bIns="0">
            <a:spAutoFit/>
          </a:bodyPr>
          <a:lstStyle/>
          <a:p>
            <a:pPr algn="r">
              <a:lnSpc>
                <a:spcPct val="100000"/>
              </a:lnSpc>
            </a:pPr>
            <a:r>
              <a:rPr sz="1200" b="0">
                <a:solidFill>
                  <a:srgbClr val="9AA4B5"/>
                </a:solidFill>
                <a:latin typeface="Helvetica Neue"/>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anchor="t" lIns="0" rIns="0" tIns="0" bIns="0">
            <a:spAutoFit/>
          </a:bodyPr>
          <a:lstStyle/>
          <a:p>
            <a:pPr algn="l">
              <a:lnSpc>
                <a:spcPct val="100000"/>
              </a:lnSpc>
            </a:pPr>
            <a:r>
              <a:rPr sz="1300" b="1">
                <a:solidFill>
                  <a:srgbClr val="5B8DEF"/>
                </a:solidFill>
                <a:latin typeface="Helvetica Neue"/>
              </a:rPr>
              <a:t>DETERMINISTIC CONTROLS AROUND AI</a:t>
            </a:r>
          </a:p>
        </p:txBody>
      </p:sp>
      <p:sp>
        <p:nvSpPr>
          <p:cNvPr id="3" name="TextBox 2"/>
          <p:cNvSpPr txBox="1"/>
          <p:nvPr/>
        </p:nvSpPr>
        <p:spPr>
          <a:xfrm>
            <a:off x="548640" y="658368"/>
            <a:ext cx="11064240" cy="777240"/>
          </a:xfrm>
          <a:prstGeom prst="rect">
            <a:avLst/>
          </a:prstGeom>
          <a:noFill/>
        </p:spPr>
        <p:txBody>
          <a:bodyPr wrap="square" anchor="t" lIns="0" rIns="0" tIns="0" bIns="0">
            <a:spAutoFit/>
          </a:bodyPr>
          <a:lstStyle/>
          <a:p>
            <a:pPr algn="l">
              <a:lnSpc>
                <a:spcPct val="100000"/>
              </a:lnSpc>
            </a:pPr>
            <a:r>
              <a:rPr sz="3200" b="1">
                <a:solidFill>
                  <a:srgbClr val="F5F7FA"/>
                </a:solidFill>
                <a:latin typeface="Helvetica Neue"/>
              </a:rPr>
              <a:t>The model extracts; the application controls.</a:t>
            </a:r>
          </a:p>
        </p:txBody>
      </p:sp>
      <p:sp>
        <p:nvSpPr>
          <p:cNvPr id="4" name="Rounded Rectangle 3"/>
          <p:cNvSpPr/>
          <p:nvPr/>
        </p:nvSpPr>
        <p:spPr>
          <a:xfrm>
            <a:off x="548640" y="1600200"/>
            <a:ext cx="5486400" cy="448056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74519"/>
            <a:ext cx="4846320" cy="411480"/>
          </a:xfrm>
          <a:prstGeom prst="rect">
            <a:avLst/>
          </a:prstGeom>
          <a:noFill/>
        </p:spPr>
        <p:txBody>
          <a:bodyPr wrap="square" anchor="t" lIns="0" rIns="0" tIns="0" bIns="0">
            <a:spAutoFit/>
          </a:bodyPr>
          <a:lstStyle/>
          <a:p>
            <a:pPr algn="l">
              <a:lnSpc>
                <a:spcPct val="100000"/>
              </a:lnSpc>
            </a:pPr>
            <a:r>
              <a:rPr sz="1500" b="1">
                <a:solidFill>
                  <a:srgbClr val="5B8DEF"/>
                </a:solidFill>
                <a:latin typeface="Helvetica Neue"/>
              </a:rPr>
              <a:t>MODEL-ASSISTED</a:t>
            </a:r>
          </a:p>
        </p:txBody>
      </p:sp>
      <p:sp>
        <p:nvSpPr>
          <p:cNvPr id="6" name="Oval 5"/>
          <p:cNvSpPr/>
          <p:nvPr/>
        </p:nvSpPr>
        <p:spPr>
          <a:xfrm>
            <a:off x="868680" y="2505456"/>
            <a:ext cx="109728" cy="109728"/>
          </a:xfrm>
          <a:prstGeom prst="ellipse">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423160"/>
            <a:ext cx="4663440" cy="457200"/>
          </a:xfrm>
          <a:prstGeom prst="rect">
            <a:avLst/>
          </a:prstGeom>
          <a:noFill/>
        </p:spPr>
        <p:txBody>
          <a:bodyPr wrap="square" anchor="t" lIns="0" rIns="0" tIns="0" bIns="0">
            <a:spAutoFit/>
          </a:bodyPr>
          <a:lstStyle/>
          <a:p>
            <a:pPr algn="l">
              <a:lnSpc>
                <a:spcPct val="100000"/>
              </a:lnSpc>
            </a:pPr>
            <a:r>
              <a:rPr sz="1800" b="0">
                <a:solidFill>
                  <a:srgbClr val="F5F7FA"/>
                </a:solidFill>
                <a:latin typeface="Helvetica Neue"/>
              </a:rPr>
              <a:t>Document classification</a:t>
            </a:r>
          </a:p>
        </p:txBody>
      </p:sp>
      <p:sp>
        <p:nvSpPr>
          <p:cNvPr id="8" name="Oval 7"/>
          <p:cNvSpPr/>
          <p:nvPr/>
        </p:nvSpPr>
        <p:spPr>
          <a:xfrm>
            <a:off x="868680" y="3072384"/>
            <a:ext cx="109728" cy="109728"/>
          </a:xfrm>
          <a:prstGeom prst="ellipse">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990088"/>
            <a:ext cx="4663440" cy="457200"/>
          </a:xfrm>
          <a:prstGeom prst="rect">
            <a:avLst/>
          </a:prstGeom>
          <a:noFill/>
        </p:spPr>
        <p:txBody>
          <a:bodyPr wrap="square" anchor="t" lIns="0" rIns="0" tIns="0" bIns="0">
            <a:spAutoFit/>
          </a:bodyPr>
          <a:lstStyle/>
          <a:p>
            <a:pPr algn="l">
              <a:lnSpc>
                <a:spcPct val="100000"/>
              </a:lnSpc>
            </a:pPr>
            <a:r>
              <a:rPr sz="1800" b="0">
                <a:solidFill>
                  <a:srgbClr val="F5F7FA"/>
                </a:solidFill>
                <a:latin typeface="Helvetica Neue"/>
              </a:rPr>
              <a:t>Schema-guided extraction</a:t>
            </a:r>
          </a:p>
        </p:txBody>
      </p:sp>
      <p:sp>
        <p:nvSpPr>
          <p:cNvPr id="10" name="Oval 9"/>
          <p:cNvSpPr/>
          <p:nvPr/>
        </p:nvSpPr>
        <p:spPr>
          <a:xfrm>
            <a:off x="868680" y="3639312"/>
            <a:ext cx="109728" cy="109728"/>
          </a:xfrm>
          <a:prstGeom prst="ellipse">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3557016"/>
            <a:ext cx="4663440" cy="457200"/>
          </a:xfrm>
          <a:prstGeom prst="rect">
            <a:avLst/>
          </a:prstGeom>
          <a:noFill/>
        </p:spPr>
        <p:txBody>
          <a:bodyPr wrap="square" anchor="t" lIns="0" rIns="0" tIns="0" bIns="0">
            <a:spAutoFit/>
          </a:bodyPr>
          <a:lstStyle/>
          <a:p>
            <a:pPr algn="l">
              <a:lnSpc>
                <a:spcPct val="100000"/>
              </a:lnSpc>
            </a:pPr>
            <a:r>
              <a:rPr sz="1800" b="0">
                <a:solidFill>
                  <a:srgbClr val="F5F7FA"/>
                </a:solidFill>
                <a:latin typeface="Helvetica Neue"/>
              </a:rPr>
              <a:t>OCR-assisted processing of scans and images</a:t>
            </a:r>
          </a:p>
        </p:txBody>
      </p:sp>
      <p:sp>
        <p:nvSpPr>
          <p:cNvPr id="12" name="Oval 11"/>
          <p:cNvSpPr/>
          <p:nvPr/>
        </p:nvSpPr>
        <p:spPr>
          <a:xfrm>
            <a:off x="868680" y="4206240"/>
            <a:ext cx="109728" cy="109728"/>
          </a:xfrm>
          <a:prstGeom prst="ellipse">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123944"/>
            <a:ext cx="4663440" cy="457200"/>
          </a:xfrm>
          <a:prstGeom prst="rect">
            <a:avLst/>
          </a:prstGeom>
          <a:noFill/>
        </p:spPr>
        <p:txBody>
          <a:bodyPr wrap="square" anchor="t" lIns="0" rIns="0" tIns="0" bIns="0">
            <a:spAutoFit/>
          </a:bodyPr>
          <a:lstStyle/>
          <a:p>
            <a:pPr algn="l">
              <a:lnSpc>
                <a:spcPct val="100000"/>
              </a:lnSpc>
            </a:pPr>
            <a:r>
              <a:rPr sz="1800" b="0">
                <a:solidFill>
                  <a:srgbClr val="F5F7FA"/>
                </a:solidFill>
                <a:latin typeface="Helvetica Neue"/>
              </a:rPr>
              <a:t>Grounded answer generation with citations</a:t>
            </a:r>
          </a:p>
        </p:txBody>
      </p:sp>
      <p:sp>
        <p:nvSpPr>
          <p:cNvPr id="14" name="TextBox 13"/>
          <p:cNvSpPr txBox="1"/>
          <p:nvPr/>
        </p:nvSpPr>
        <p:spPr>
          <a:xfrm>
            <a:off x="868680" y="5120640"/>
            <a:ext cx="4846320" cy="822960"/>
          </a:xfrm>
          <a:prstGeom prst="rect">
            <a:avLst/>
          </a:prstGeom>
          <a:noFill/>
        </p:spPr>
        <p:txBody>
          <a:bodyPr wrap="square" anchor="t" lIns="0" rIns="0" tIns="0" bIns="0">
            <a:spAutoFit/>
          </a:bodyPr>
          <a:lstStyle/>
          <a:p>
            <a:pPr algn="l">
              <a:lnSpc>
                <a:spcPct val="115000"/>
              </a:lnSpc>
            </a:pPr>
            <a:r>
              <a:rPr sz="1400" b="0">
                <a:solidFill>
                  <a:srgbClr val="9AA4B5"/>
                </a:solidFill>
                <a:latin typeface="Helvetica Neue"/>
              </a:rPr>
              <a:t>Probabilistic output is treated as a proposal:
inspectable, cited, and validated before use.</a:t>
            </a:r>
          </a:p>
        </p:txBody>
      </p:sp>
      <p:sp>
        <p:nvSpPr>
          <p:cNvPr id="15" name="Rounded Rectangle 14"/>
          <p:cNvSpPr/>
          <p:nvPr/>
        </p:nvSpPr>
        <p:spPr>
          <a:xfrm>
            <a:off x="6263640" y="1600200"/>
            <a:ext cx="5376672" cy="448056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874519"/>
            <a:ext cx="4754880" cy="411480"/>
          </a:xfrm>
          <a:prstGeom prst="rect">
            <a:avLst/>
          </a:prstGeom>
          <a:noFill/>
        </p:spPr>
        <p:txBody>
          <a:bodyPr wrap="square" anchor="t" lIns="0" rIns="0" tIns="0" bIns="0">
            <a:spAutoFit/>
          </a:bodyPr>
          <a:lstStyle/>
          <a:p>
            <a:pPr algn="l">
              <a:lnSpc>
                <a:spcPct val="100000"/>
              </a:lnSpc>
            </a:pPr>
            <a:r>
              <a:rPr sz="1500" b="1">
                <a:solidFill>
                  <a:srgbClr val="3DC98E"/>
                </a:solidFill>
                <a:latin typeface="Helvetica Neue"/>
              </a:rPr>
              <a:t>DETERMINISTIC APPLICATION CONTROLS</a:t>
            </a:r>
          </a:p>
        </p:txBody>
      </p:sp>
      <p:sp>
        <p:nvSpPr>
          <p:cNvPr id="17" name="Oval 16"/>
          <p:cNvSpPr/>
          <p:nvPr/>
        </p:nvSpPr>
        <p:spPr>
          <a:xfrm>
            <a:off x="6583680" y="2505456"/>
            <a:ext cx="109728" cy="109728"/>
          </a:xfrm>
          <a:prstGeom prst="ellipse">
            <a:avLst/>
          </a:prstGeom>
          <a:solidFill>
            <a:srgbClr val="3DC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0" y="2423160"/>
            <a:ext cx="4572000" cy="457200"/>
          </a:xfrm>
          <a:prstGeom prst="rect">
            <a:avLst/>
          </a:prstGeom>
          <a:noFill/>
        </p:spPr>
        <p:txBody>
          <a:bodyPr wrap="square" anchor="t" lIns="0" rIns="0" tIns="0" bIns="0">
            <a:spAutoFit/>
          </a:bodyPr>
          <a:lstStyle/>
          <a:p>
            <a:pPr algn="l">
              <a:lnSpc>
                <a:spcPct val="100000"/>
              </a:lnSpc>
            </a:pPr>
            <a:r>
              <a:rPr sz="1800" b="0">
                <a:solidFill>
                  <a:srgbClr val="F5F7FA"/>
                </a:solidFill>
                <a:latin typeface="Helvetica Neue"/>
              </a:rPr>
              <a:t>Authentication + workspace authorization</a:t>
            </a:r>
          </a:p>
        </p:txBody>
      </p:sp>
      <p:sp>
        <p:nvSpPr>
          <p:cNvPr id="19" name="Oval 18"/>
          <p:cNvSpPr/>
          <p:nvPr/>
        </p:nvSpPr>
        <p:spPr>
          <a:xfrm>
            <a:off x="6583680" y="3072384"/>
            <a:ext cx="109728" cy="109728"/>
          </a:xfrm>
          <a:prstGeom prst="ellipse">
            <a:avLst/>
          </a:prstGeom>
          <a:solidFill>
            <a:srgbClr val="3DC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2990088"/>
            <a:ext cx="4572000" cy="457200"/>
          </a:xfrm>
          <a:prstGeom prst="rect">
            <a:avLst/>
          </a:prstGeom>
          <a:noFill/>
        </p:spPr>
        <p:txBody>
          <a:bodyPr wrap="square" anchor="t" lIns="0" rIns="0" tIns="0" bIns="0">
            <a:spAutoFit/>
          </a:bodyPr>
          <a:lstStyle/>
          <a:p>
            <a:pPr algn="l">
              <a:lnSpc>
                <a:spcPct val="100000"/>
              </a:lnSpc>
            </a:pPr>
            <a:r>
              <a:rPr sz="1800" b="0">
                <a:solidFill>
                  <a:srgbClr val="F5F7FA"/>
                </a:solidFill>
                <a:latin typeface="Helvetica Neue"/>
              </a:rPr>
              <a:t>Runtime schema validation of extraction output</a:t>
            </a:r>
          </a:p>
        </p:txBody>
      </p:sp>
      <p:sp>
        <p:nvSpPr>
          <p:cNvPr id="21" name="Oval 20"/>
          <p:cNvSpPr/>
          <p:nvPr/>
        </p:nvSpPr>
        <p:spPr>
          <a:xfrm>
            <a:off x="6583680" y="3639312"/>
            <a:ext cx="109728" cy="109728"/>
          </a:xfrm>
          <a:prstGeom prst="ellipse">
            <a:avLst/>
          </a:prstGeom>
          <a:solidFill>
            <a:srgbClr val="3DC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3557016"/>
            <a:ext cx="4572000" cy="457200"/>
          </a:xfrm>
          <a:prstGeom prst="rect">
            <a:avLst/>
          </a:prstGeom>
          <a:noFill/>
        </p:spPr>
        <p:txBody>
          <a:bodyPr wrap="square" anchor="t" lIns="0" rIns="0" tIns="0" bIns="0">
            <a:spAutoFit/>
          </a:bodyPr>
          <a:lstStyle/>
          <a:p>
            <a:pPr algn="l">
              <a:lnSpc>
                <a:spcPct val="100000"/>
              </a:lnSpc>
            </a:pPr>
            <a:r>
              <a:rPr sz="1800" b="0">
                <a:solidFill>
                  <a:srgbClr val="F5F7FA"/>
                </a:solidFill>
                <a:latin typeface="Helvetica Neue"/>
              </a:rPr>
              <a:t>Private storage and persisted records</a:t>
            </a:r>
          </a:p>
        </p:txBody>
      </p:sp>
      <p:sp>
        <p:nvSpPr>
          <p:cNvPr id="23" name="Oval 22"/>
          <p:cNvSpPr/>
          <p:nvPr/>
        </p:nvSpPr>
        <p:spPr>
          <a:xfrm>
            <a:off x="6583680" y="4206240"/>
            <a:ext cx="109728" cy="109728"/>
          </a:xfrm>
          <a:prstGeom prst="ellipse">
            <a:avLst/>
          </a:prstGeom>
          <a:solidFill>
            <a:srgbClr val="3DC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4123944"/>
            <a:ext cx="4572000" cy="457200"/>
          </a:xfrm>
          <a:prstGeom prst="rect">
            <a:avLst/>
          </a:prstGeom>
          <a:noFill/>
        </p:spPr>
        <p:txBody>
          <a:bodyPr wrap="square" anchor="t" lIns="0" rIns="0" tIns="0" bIns="0">
            <a:spAutoFit/>
          </a:bodyPr>
          <a:lstStyle/>
          <a:p>
            <a:pPr algn="l">
              <a:lnSpc>
                <a:spcPct val="100000"/>
              </a:lnSpc>
            </a:pPr>
            <a:r>
              <a:rPr sz="1800" b="0">
                <a:solidFill>
                  <a:srgbClr val="F5F7FA"/>
                </a:solidFill>
                <a:latin typeface="Helvetica Neue"/>
              </a:rPr>
              <a:t>Usage and billing rules</a:t>
            </a:r>
          </a:p>
        </p:txBody>
      </p:sp>
      <p:sp>
        <p:nvSpPr>
          <p:cNvPr id="25" name="Oval 24"/>
          <p:cNvSpPr/>
          <p:nvPr/>
        </p:nvSpPr>
        <p:spPr>
          <a:xfrm>
            <a:off x="6583680" y="4773168"/>
            <a:ext cx="109728" cy="109728"/>
          </a:xfrm>
          <a:prstGeom prst="ellipse">
            <a:avLst/>
          </a:prstGeom>
          <a:solidFill>
            <a:srgbClr val="3DC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0" y="4690872"/>
            <a:ext cx="4572000" cy="457200"/>
          </a:xfrm>
          <a:prstGeom prst="rect">
            <a:avLst/>
          </a:prstGeom>
          <a:noFill/>
        </p:spPr>
        <p:txBody>
          <a:bodyPr wrap="square" anchor="t" lIns="0" rIns="0" tIns="0" bIns="0">
            <a:spAutoFit/>
          </a:bodyPr>
          <a:lstStyle/>
          <a:p>
            <a:pPr algn="l">
              <a:lnSpc>
                <a:spcPct val="100000"/>
              </a:lnSpc>
            </a:pPr>
            <a:r>
              <a:rPr sz="1800" b="0">
                <a:solidFill>
                  <a:srgbClr val="F5F7FA"/>
                </a:solidFill>
                <a:latin typeface="Helvetica Neue"/>
              </a:rPr>
              <a:t>Approval ownership and state</a:t>
            </a:r>
          </a:p>
        </p:txBody>
      </p:sp>
      <p:sp>
        <p:nvSpPr>
          <p:cNvPr id="27" name="TextBox 26"/>
          <p:cNvSpPr txBox="1"/>
          <p:nvPr/>
        </p:nvSpPr>
        <p:spPr>
          <a:xfrm>
            <a:off x="6583680" y="5349240"/>
            <a:ext cx="4754880" cy="548640"/>
          </a:xfrm>
          <a:prstGeom prst="rect">
            <a:avLst/>
          </a:prstGeom>
          <a:noFill/>
        </p:spPr>
        <p:txBody>
          <a:bodyPr wrap="square" anchor="t" lIns="0" rIns="0" tIns="0" bIns="0">
            <a:spAutoFit/>
          </a:bodyPr>
          <a:lstStyle/>
          <a:p>
            <a:pPr algn="l">
              <a:lnSpc>
                <a:spcPct val="100000"/>
              </a:lnSpc>
            </a:pPr>
            <a:r>
              <a:rPr sz="1400" b="0">
                <a:solidFill>
                  <a:srgbClr val="9AA4B5"/>
                </a:solidFill>
                <a:latin typeface="Helvetica Neue"/>
              </a:rPr>
              <a:t>Model judgment never owns identity, money, tenancy, or state.</a:t>
            </a:r>
          </a:p>
        </p:txBody>
      </p:sp>
      <p:sp>
        <p:nvSpPr>
          <p:cNvPr id="28" name="TextBox 27"/>
          <p:cNvSpPr txBox="1"/>
          <p:nvPr/>
        </p:nvSpPr>
        <p:spPr>
          <a:xfrm>
            <a:off x="548640" y="6263640"/>
            <a:ext cx="11064240" cy="320040"/>
          </a:xfrm>
          <a:prstGeom prst="rect">
            <a:avLst/>
          </a:prstGeom>
          <a:noFill/>
        </p:spPr>
        <p:txBody>
          <a:bodyPr wrap="square" anchor="t" lIns="0" rIns="0" tIns="0" bIns="0">
            <a:spAutoFit/>
          </a:bodyPr>
          <a:lstStyle/>
          <a:p>
            <a:pPr algn="l">
              <a:lnSpc>
                <a:spcPct val="100000"/>
              </a:lnSpc>
            </a:pPr>
            <a:r>
              <a:rPr sz="1200" b="0">
                <a:solidFill>
                  <a:srgbClr val="9AA4B5"/>
                </a:solidFill>
                <a:latin typeface="Helvetica Neue"/>
              </a:rPr>
              <a:t>Boundary map verified against repository source: src/lib/ai/*, src/lib/auth/workspace.ts, src/app/api/billing/*, supabase/migrations/*</a:t>
            </a:r>
          </a:p>
        </p:txBody>
      </p:sp>
      <p:sp>
        <p:nvSpPr>
          <p:cNvPr id="29" name="TextBox 28"/>
          <p:cNvSpPr txBox="1"/>
          <p:nvPr/>
        </p:nvSpPr>
        <p:spPr>
          <a:xfrm>
            <a:off x="11658600" y="6473952"/>
            <a:ext cx="411480" cy="274320"/>
          </a:xfrm>
          <a:prstGeom prst="rect">
            <a:avLst/>
          </a:prstGeom>
          <a:noFill/>
        </p:spPr>
        <p:txBody>
          <a:bodyPr wrap="square" anchor="t" lIns="0" rIns="0" tIns="0" bIns="0">
            <a:spAutoFit/>
          </a:bodyPr>
          <a:lstStyle/>
          <a:p>
            <a:pPr algn="r">
              <a:lnSpc>
                <a:spcPct val="100000"/>
              </a:lnSpc>
            </a:pPr>
            <a:r>
              <a:rPr sz="1200" b="0">
                <a:solidFill>
                  <a:srgbClr val="9AA4B5"/>
                </a:solidFill>
                <a:latin typeface="Helvetica Neue"/>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anchor="t" lIns="0" rIns="0" tIns="0" bIns="0">
            <a:spAutoFit/>
          </a:bodyPr>
          <a:lstStyle/>
          <a:p>
            <a:pPr algn="l">
              <a:lnSpc>
                <a:spcPct val="100000"/>
              </a:lnSpc>
            </a:pPr>
            <a:r>
              <a:rPr sz="1300" b="1">
                <a:solidFill>
                  <a:srgbClr val="5B8DEF"/>
                </a:solidFill>
                <a:latin typeface="Helvetica Neue"/>
              </a:rPr>
              <a:t>SYSTEM ARCHITECTURE</a:t>
            </a:r>
          </a:p>
        </p:txBody>
      </p:sp>
      <p:sp>
        <p:nvSpPr>
          <p:cNvPr id="3" name="TextBox 2"/>
          <p:cNvSpPr txBox="1"/>
          <p:nvPr/>
        </p:nvSpPr>
        <p:spPr>
          <a:xfrm>
            <a:off x="548640" y="658368"/>
            <a:ext cx="11064240" cy="777240"/>
          </a:xfrm>
          <a:prstGeom prst="rect">
            <a:avLst/>
          </a:prstGeom>
          <a:noFill/>
        </p:spPr>
        <p:txBody>
          <a:bodyPr wrap="square" anchor="t" lIns="0" rIns="0" tIns="0" bIns="0">
            <a:spAutoFit/>
          </a:bodyPr>
          <a:lstStyle/>
          <a:p>
            <a:pPr algn="l">
              <a:lnSpc>
                <a:spcPct val="100000"/>
              </a:lnSpc>
            </a:pPr>
            <a:r>
              <a:rPr sz="3200" b="1">
                <a:solidFill>
                  <a:srgbClr val="F5F7FA"/>
                </a:solidFill>
                <a:latin typeface="Helvetica Neue"/>
              </a:rPr>
              <a:t>Full-stack document intelligence architecture</a:t>
            </a:r>
          </a:p>
        </p:txBody>
      </p:sp>
      <p:sp>
        <p:nvSpPr>
          <p:cNvPr id="4" name="Rectangle 3"/>
          <p:cNvSpPr/>
          <p:nvPr/>
        </p:nvSpPr>
        <p:spPr>
          <a:xfrm>
            <a:off x="7635240" y="475488"/>
            <a:ext cx="164592" cy="164592"/>
          </a:xfrm>
          <a:prstGeom prst="rect">
            <a:avLst/>
          </a:prstGeom>
          <a:solidFill>
            <a:srgbClr val="3DC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72984" y="429768"/>
            <a:ext cx="1371600" cy="274320"/>
          </a:xfrm>
          <a:prstGeom prst="rect">
            <a:avLst/>
          </a:prstGeom>
          <a:noFill/>
        </p:spPr>
        <p:txBody>
          <a:bodyPr wrap="none" anchor="t" lIns="0" rIns="0" tIns="0" bIns="0">
            <a:spAutoFit/>
          </a:bodyPr>
          <a:lstStyle/>
          <a:p>
            <a:pPr algn="l">
              <a:lnSpc>
                <a:spcPct val="100000"/>
              </a:lnSpc>
            </a:pPr>
            <a:r>
              <a:rPr sz="1200" b="0">
                <a:solidFill>
                  <a:srgbClr val="9AA4B5"/>
                </a:solidFill>
                <a:latin typeface="Helvetica Neue"/>
              </a:rPr>
              <a:t>Implemented</a:t>
            </a:r>
          </a:p>
        </p:txBody>
      </p:sp>
      <p:sp>
        <p:nvSpPr>
          <p:cNvPr id="6" name="Rectangle 5"/>
          <p:cNvSpPr/>
          <p:nvPr/>
        </p:nvSpPr>
        <p:spPr>
          <a:xfrm>
            <a:off x="9052560" y="475488"/>
            <a:ext cx="164592" cy="164592"/>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90304" y="429768"/>
            <a:ext cx="1371600" cy="274320"/>
          </a:xfrm>
          <a:prstGeom prst="rect">
            <a:avLst/>
          </a:prstGeom>
          <a:noFill/>
        </p:spPr>
        <p:txBody>
          <a:bodyPr wrap="none" anchor="t" lIns="0" rIns="0" tIns="0" bIns="0">
            <a:spAutoFit/>
          </a:bodyPr>
          <a:lstStyle/>
          <a:p>
            <a:pPr algn="l">
              <a:lnSpc>
                <a:spcPct val="100000"/>
              </a:lnSpc>
            </a:pPr>
            <a:r>
              <a:rPr sz="1200" b="0">
                <a:solidFill>
                  <a:srgbClr val="9AA4B5"/>
                </a:solidFill>
                <a:latin typeface="Helvetica Neue"/>
              </a:rPr>
              <a:t>Synthetic demo</a:t>
            </a:r>
          </a:p>
        </p:txBody>
      </p:sp>
      <p:sp>
        <p:nvSpPr>
          <p:cNvPr id="8" name="Rectangle 7"/>
          <p:cNvSpPr/>
          <p:nvPr/>
        </p:nvSpPr>
        <p:spPr>
          <a:xfrm>
            <a:off x="10652760" y="475488"/>
            <a:ext cx="164592" cy="164592"/>
          </a:xfrm>
          <a:prstGeom prst="rect">
            <a:avLst/>
          </a:prstGeom>
          <a:solidFill>
            <a:srgbClr val="9AA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90504" y="429768"/>
            <a:ext cx="1371600" cy="274320"/>
          </a:xfrm>
          <a:prstGeom prst="rect">
            <a:avLst/>
          </a:prstGeom>
          <a:noFill/>
        </p:spPr>
        <p:txBody>
          <a:bodyPr wrap="none" anchor="t" lIns="0" rIns="0" tIns="0" bIns="0">
            <a:spAutoFit/>
          </a:bodyPr>
          <a:lstStyle/>
          <a:p>
            <a:pPr algn="l">
              <a:lnSpc>
                <a:spcPct val="100000"/>
              </a:lnSpc>
            </a:pPr>
            <a:r>
              <a:rPr sz="1200" b="0">
                <a:solidFill>
                  <a:srgbClr val="9AA4B5"/>
                </a:solidFill>
                <a:latin typeface="Helvetica Neue"/>
              </a:rPr>
              <a:t>Planned</a:t>
            </a:r>
          </a:p>
        </p:txBody>
      </p:sp>
      <p:sp>
        <p:nvSpPr>
          <p:cNvPr id="10" name="Rounded Rectangle 9"/>
          <p:cNvSpPr/>
          <p:nvPr/>
        </p:nvSpPr>
        <p:spPr>
          <a:xfrm>
            <a:off x="548640" y="1417320"/>
            <a:ext cx="1600200" cy="868680"/>
          </a:xfrm>
          <a:prstGeom prst="roundRect">
            <a:avLst>
              <a:gd name="adj" fmla="val 12000"/>
            </a:avLst>
          </a:prstGeom>
          <a:solidFill>
            <a:srgbClr val="1B212E"/>
          </a:solidFill>
          <a:ln w="9525">
            <a:solidFill>
              <a:srgbClr val="5B8D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490472"/>
            <a:ext cx="1380744" cy="292608"/>
          </a:xfrm>
          <a:prstGeom prst="rect">
            <a:avLst/>
          </a:prstGeom>
          <a:noFill/>
        </p:spPr>
        <p:txBody>
          <a:bodyPr wrap="square" anchor="t" lIns="0" rIns="0" tIns="0" bIns="0">
            <a:spAutoFit/>
          </a:bodyPr>
          <a:lstStyle/>
          <a:p>
            <a:pPr algn="l">
              <a:lnSpc>
                <a:spcPct val="100000"/>
              </a:lnSpc>
            </a:pPr>
            <a:r>
              <a:rPr sz="1400" b="1">
                <a:solidFill>
                  <a:srgbClr val="F5F7FA"/>
                </a:solidFill>
                <a:latin typeface="Helvetica Neue"/>
              </a:rPr>
              <a:t>Signed-in user</a:t>
            </a:r>
          </a:p>
        </p:txBody>
      </p:sp>
      <p:sp>
        <p:nvSpPr>
          <p:cNvPr id="12" name="TextBox 11"/>
          <p:cNvSpPr txBox="1"/>
          <p:nvPr/>
        </p:nvSpPr>
        <p:spPr>
          <a:xfrm>
            <a:off x="658368" y="1801368"/>
            <a:ext cx="1380744" cy="429768"/>
          </a:xfrm>
          <a:prstGeom prst="rect">
            <a:avLst/>
          </a:prstGeom>
          <a:noFill/>
        </p:spPr>
        <p:txBody>
          <a:bodyPr wrap="square" anchor="t" lIns="0" rIns="0" tIns="0" bIns="0">
            <a:spAutoFit/>
          </a:bodyPr>
          <a:lstStyle/>
          <a:p>
            <a:pPr algn="l">
              <a:lnSpc>
                <a:spcPct val="100000"/>
              </a:lnSpc>
            </a:pPr>
            <a:r>
              <a:rPr sz="1050" b="0">
                <a:solidFill>
                  <a:srgbClr val="9AA4B5"/>
                </a:solidFill>
                <a:latin typeface="Helvetica Neue"/>
              </a:rPr>
              <a:t>Clerk identity</a:t>
            </a:r>
          </a:p>
        </p:txBody>
      </p:sp>
      <p:sp>
        <p:nvSpPr>
          <p:cNvPr id="13" name="Rounded Rectangle 12"/>
          <p:cNvSpPr/>
          <p:nvPr/>
        </p:nvSpPr>
        <p:spPr>
          <a:xfrm>
            <a:off x="2514600" y="1417320"/>
            <a:ext cx="1965960" cy="868680"/>
          </a:xfrm>
          <a:prstGeom prst="roundRect">
            <a:avLst>
              <a:gd name="adj" fmla="val 12000"/>
            </a:avLst>
          </a:prstGeom>
          <a:solidFill>
            <a:srgbClr val="1B212E"/>
          </a:solidFill>
          <a:ln w="9525">
            <a:solidFill>
              <a:srgbClr val="3DC9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24328" y="1490472"/>
            <a:ext cx="1746504" cy="292608"/>
          </a:xfrm>
          <a:prstGeom prst="rect">
            <a:avLst/>
          </a:prstGeom>
          <a:noFill/>
        </p:spPr>
        <p:txBody>
          <a:bodyPr wrap="square" anchor="t" lIns="0" rIns="0" tIns="0" bIns="0">
            <a:spAutoFit/>
          </a:bodyPr>
          <a:lstStyle/>
          <a:p>
            <a:pPr algn="l">
              <a:lnSpc>
                <a:spcPct val="100000"/>
              </a:lnSpc>
            </a:pPr>
            <a:r>
              <a:rPr sz="1400" b="1">
                <a:solidFill>
                  <a:srgbClr val="F5F7FA"/>
                </a:solidFill>
                <a:latin typeface="Helvetica Neue"/>
              </a:rPr>
              <a:t>Next.js routes</a:t>
            </a:r>
          </a:p>
        </p:txBody>
      </p:sp>
      <p:sp>
        <p:nvSpPr>
          <p:cNvPr id="15" name="TextBox 14"/>
          <p:cNvSpPr txBox="1"/>
          <p:nvPr/>
        </p:nvSpPr>
        <p:spPr>
          <a:xfrm>
            <a:off x="2624328" y="1801368"/>
            <a:ext cx="1746504" cy="429768"/>
          </a:xfrm>
          <a:prstGeom prst="rect">
            <a:avLst/>
          </a:prstGeom>
          <a:noFill/>
        </p:spPr>
        <p:txBody>
          <a:bodyPr wrap="square" anchor="t" lIns="0" rIns="0" tIns="0" bIns="0">
            <a:spAutoFit/>
          </a:bodyPr>
          <a:lstStyle/>
          <a:p>
            <a:pPr algn="l">
              <a:lnSpc>
                <a:spcPct val="100000"/>
              </a:lnSpc>
            </a:pPr>
            <a:r>
              <a:rPr sz="1050" b="0">
                <a:solidFill>
                  <a:srgbClr val="9AA4B5"/>
                </a:solidFill>
                <a:latin typeface="Helvetica Neue"/>
              </a:rPr>
              <a:t>authenticated App Router</a:t>
            </a:r>
          </a:p>
        </p:txBody>
      </p:sp>
      <p:sp>
        <p:nvSpPr>
          <p:cNvPr id="16" name="Rounded Rectangle 15"/>
          <p:cNvSpPr/>
          <p:nvPr/>
        </p:nvSpPr>
        <p:spPr>
          <a:xfrm>
            <a:off x="4846320" y="1417320"/>
            <a:ext cx="1965960" cy="868680"/>
          </a:xfrm>
          <a:prstGeom prst="roundRect">
            <a:avLst>
              <a:gd name="adj" fmla="val 12000"/>
            </a:avLst>
          </a:prstGeom>
          <a:solidFill>
            <a:srgbClr val="1B212E"/>
          </a:solidFill>
          <a:ln w="9525">
            <a:solidFill>
              <a:srgbClr val="3DC9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56048" y="1490472"/>
            <a:ext cx="1746504" cy="292608"/>
          </a:xfrm>
          <a:prstGeom prst="rect">
            <a:avLst/>
          </a:prstGeom>
          <a:noFill/>
        </p:spPr>
        <p:txBody>
          <a:bodyPr wrap="square" anchor="t" lIns="0" rIns="0" tIns="0" bIns="0">
            <a:spAutoFit/>
          </a:bodyPr>
          <a:lstStyle/>
          <a:p>
            <a:pPr algn="l">
              <a:lnSpc>
                <a:spcPct val="100000"/>
              </a:lnSpc>
            </a:pPr>
            <a:r>
              <a:rPr sz="1400" b="1">
                <a:solidFill>
                  <a:srgbClr val="F5F7FA"/>
                </a:solidFill>
                <a:latin typeface="Helvetica Neue"/>
              </a:rPr>
              <a:t>Workspace checks</a:t>
            </a:r>
          </a:p>
        </p:txBody>
      </p:sp>
      <p:sp>
        <p:nvSpPr>
          <p:cNvPr id="18" name="TextBox 17"/>
          <p:cNvSpPr txBox="1"/>
          <p:nvPr/>
        </p:nvSpPr>
        <p:spPr>
          <a:xfrm>
            <a:off x="4956048" y="1801368"/>
            <a:ext cx="1746504" cy="429768"/>
          </a:xfrm>
          <a:prstGeom prst="rect">
            <a:avLst/>
          </a:prstGeom>
          <a:noFill/>
        </p:spPr>
        <p:txBody>
          <a:bodyPr wrap="square" anchor="t" lIns="0" rIns="0" tIns="0" bIns="0">
            <a:spAutoFit/>
          </a:bodyPr>
          <a:lstStyle/>
          <a:p>
            <a:pPr algn="l">
              <a:lnSpc>
                <a:spcPct val="100000"/>
              </a:lnSpc>
            </a:pPr>
            <a:r>
              <a:rPr sz="1050" b="0">
                <a:solidFill>
                  <a:srgbClr val="9AA4B5"/>
                </a:solidFill>
                <a:latin typeface="Helvetica Neue"/>
              </a:rPr>
              <a:t>membership + role</a:t>
            </a:r>
          </a:p>
        </p:txBody>
      </p:sp>
      <p:sp>
        <p:nvSpPr>
          <p:cNvPr id="19" name="Rounded Rectangle 18"/>
          <p:cNvSpPr/>
          <p:nvPr/>
        </p:nvSpPr>
        <p:spPr>
          <a:xfrm>
            <a:off x="7178040" y="1417320"/>
            <a:ext cx="2103120" cy="868680"/>
          </a:xfrm>
          <a:prstGeom prst="roundRect">
            <a:avLst>
              <a:gd name="adj" fmla="val 12000"/>
            </a:avLst>
          </a:prstGeom>
          <a:solidFill>
            <a:srgbClr val="1B212E"/>
          </a:solidFill>
          <a:ln w="9525">
            <a:solidFill>
              <a:srgbClr val="3DC9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87768" y="1490472"/>
            <a:ext cx="1883664" cy="292608"/>
          </a:xfrm>
          <a:prstGeom prst="rect">
            <a:avLst/>
          </a:prstGeom>
          <a:noFill/>
        </p:spPr>
        <p:txBody>
          <a:bodyPr wrap="square" anchor="t" lIns="0" rIns="0" tIns="0" bIns="0">
            <a:spAutoFit/>
          </a:bodyPr>
          <a:lstStyle/>
          <a:p>
            <a:pPr algn="l">
              <a:lnSpc>
                <a:spcPct val="100000"/>
              </a:lnSpc>
            </a:pPr>
            <a:r>
              <a:rPr sz="1400" b="1">
                <a:solidFill>
                  <a:srgbClr val="F5F7FA"/>
                </a:solidFill>
                <a:latin typeface="Helvetica Neue"/>
              </a:rPr>
              <a:t>Private storage + DB</a:t>
            </a:r>
          </a:p>
        </p:txBody>
      </p:sp>
      <p:sp>
        <p:nvSpPr>
          <p:cNvPr id="21" name="TextBox 20"/>
          <p:cNvSpPr txBox="1"/>
          <p:nvPr/>
        </p:nvSpPr>
        <p:spPr>
          <a:xfrm>
            <a:off x="7287768" y="1801368"/>
            <a:ext cx="1883664" cy="429768"/>
          </a:xfrm>
          <a:prstGeom prst="rect">
            <a:avLst/>
          </a:prstGeom>
          <a:noFill/>
        </p:spPr>
        <p:txBody>
          <a:bodyPr wrap="square" anchor="t" lIns="0" rIns="0" tIns="0" bIns="0">
            <a:spAutoFit/>
          </a:bodyPr>
          <a:lstStyle/>
          <a:p>
            <a:pPr algn="l">
              <a:lnSpc>
                <a:spcPct val="100000"/>
              </a:lnSpc>
            </a:pPr>
            <a:r>
              <a:rPr sz="1050" b="0">
                <a:solidFill>
                  <a:srgbClr val="9AA4B5"/>
                </a:solidFill>
                <a:latin typeface="Helvetica Neue"/>
              </a:rPr>
              <a:t>Supabase · RLS-aware</a:t>
            </a:r>
          </a:p>
        </p:txBody>
      </p:sp>
      <p:sp>
        <p:nvSpPr>
          <p:cNvPr id="22" name="Rounded Rectangle 21"/>
          <p:cNvSpPr/>
          <p:nvPr/>
        </p:nvSpPr>
        <p:spPr>
          <a:xfrm>
            <a:off x="9646920" y="1417320"/>
            <a:ext cx="2011680" cy="868680"/>
          </a:xfrm>
          <a:prstGeom prst="roundRect">
            <a:avLst>
              <a:gd name="adj" fmla="val 12000"/>
            </a:avLst>
          </a:prstGeom>
          <a:solidFill>
            <a:srgbClr val="1B212E"/>
          </a:solidFill>
          <a:ln w="9525">
            <a:solidFill>
              <a:srgbClr val="3DC9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56648" y="1490472"/>
            <a:ext cx="1792224" cy="292608"/>
          </a:xfrm>
          <a:prstGeom prst="rect">
            <a:avLst/>
          </a:prstGeom>
          <a:noFill/>
        </p:spPr>
        <p:txBody>
          <a:bodyPr wrap="square" anchor="t" lIns="0" rIns="0" tIns="0" bIns="0">
            <a:spAutoFit/>
          </a:bodyPr>
          <a:lstStyle/>
          <a:p>
            <a:pPr algn="l">
              <a:lnSpc>
                <a:spcPct val="100000"/>
              </a:lnSpc>
            </a:pPr>
            <a:r>
              <a:rPr sz="1400" b="1">
                <a:solidFill>
                  <a:srgbClr val="F5F7FA"/>
                </a:solidFill>
                <a:latin typeface="Helvetica Neue"/>
              </a:rPr>
              <a:t>Parsing / OCR</a:t>
            </a:r>
          </a:p>
        </p:txBody>
      </p:sp>
      <p:sp>
        <p:nvSpPr>
          <p:cNvPr id="24" name="TextBox 23"/>
          <p:cNvSpPr txBox="1"/>
          <p:nvPr/>
        </p:nvSpPr>
        <p:spPr>
          <a:xfrm>
            <a:off x="9756648" y="1801368"/>
            <a:ext cx="1792224" cy="429768"/>
          </a:xfrm>
          <a:prstGeom prst="rect">
            <a:avLst/>
          </a:prstGeom>
          <a:noFill/>
        </p:spPr>
        <p:txBody>
          <a:bodyPr wrap="square" anchor="t" lIns="0" rIns="0" tIns="0" bIns="0">
            <a:spAutoFit/>
          </a:bodyPr>
          <a:lstStyle/>
          <a:p>
            <a:pPr algn="l">
              <a:lnSpc>
                <a:spcPct val="100000"/>
              </a:lnSpc>
            </a:pPr>
            <a:r>
              <a:rPr sz="1050" b="0">
                <a:solidFill>
                  <a:srgbClr val="9AA4B5"/>
                </a:solidFill>
                <a:latin typeface="Helvetica Neue"/>
              </a:rPr>
              <a:t>PDF · DOCX · scans · images</a:t>
            </a:r>
          </a:p>
        </p:txBody>
      </p:sp>
      <p:cxnSp>
        <p:nvCxnSpPr>
          <p:cNvPr id="25" name="Connector 24"/>
          <p:cNvCxnSpPr/>
          <p:nvPr/>
        </p:nvCxnSpPr>
        <p:spPr>
          <a:xfrm>
            <a:off x="2148840" y="1851660.0"/>
            <a:ext cx="365760" cy="0.0"/>
          </a:xfrm>
          <a:prstGeom prst="bentConnector3">
            <a:avLst/>
          </a:prstGeom>
          <a:ln w="19050">
            <a:solidFill>
              <a:srgbClr val="2A31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480560" y="1851660.0"/>
            <a:ext cx="365760" cy="0.0"/>
          </a:xfrm>
          <a:prstGeom prst="bentConnector3">
            <a:avLst/>
          </a:prstGeom>
          <a:ln w="19050">
            <a:solidFill>
              <a:srgbClr val="2A31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12280" y="1851660.0"/>
            <a:ext cx="365760" cy="0.0"/>
          </a:xfrm>
          <a:prstGeom prst="bentConnector3">
            <a:avLst/>
          </a:prstGeom>
          <a:ln w="19050">
            <a:solidFill>
              <a:srgbClr val="2A31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281160" y="1851660.0"/>
            <a:ext cx="365760" cy="0.0"/>
          </a:xfrm>
          <a:prstGeom prst="bentConnector3">
            <a:avLst/>
          </a:prstGeom>
          <a:ln w="19050">
            <a:solidFill>
              <a:srgbClr val="2A31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48640" y="2788920"/>
            <a:ext cx="2377440" cy="868680"/>
          </a:xfrm>
          <a:prstGeom prst="roundRect">
            <a:avLst>
              <a:gd name="adj" fmla="val 12000"/>
            </a:avLst>
          </a:prstGeom>
          <a:solidFill>
            <a:srgbClr val="1B212E"/>
          </a:solidFill>
          <a:ln w="9525">
            <a:solidFill>
              <a:srgbClr val="3DC9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2862072"/>
            <a:ext cx="2157984" cy="292608"/>
          </a:xfrm>
          <a:prstGeom prst="rect">
            <a:avLst/>
          </a:prstGeom>
          <a:noFill/>
        </p:spPr>
        <p:txBody>
          <a:bodyPr wrap="square" anchor="t" lIns="0" rIns="0" tIns="0" bIns="0">
            <a:spAutoFit/>
          </a:bodyPr>
          <a:lstStyle/>
          <a:p>
            <a:pPr algn="l">
              <a:lnSpc>
                <a:spcPct val="100000"/>
              </a:lnSpc>
            </a:pPr>
            <a:r>
              <a:rPr sz="1400" b="1">
                <a:solidFill>
                  <a:srgbClr val="F5F7FA"/>
                </a:solidFill>
                <a:latin typeface="Helvetica Neue"/>
              </a:rPr>
              <a:t>Chunks + embeddings</a:t>
            </a:r>
          </a:p>
        </p:txBody>
      </p:sp>
      <p:sp>
        <p:nvSpPr>
          <p:cNvPr id="31" name="TextBox 30"/>
          <p:cNvSpPr txBox="1"/>
          <p:nvPr/>
        </p:nvSpPr>
        <p:spPr>
          <a:xfrm>
            <a:off x="658368" y="3172968"/>
            <a:ext cx="2157984" cy="429768"/>
          </a:xfrm>
          <a:prstGeom prst="rect">
            <a:avLst/>
          </a:prstGeom>
          <a:noFill/>
        </p:spPr>
        <p:txBody>
          <a:bodyPr wrap="square" anchor="t" lIns="0" rIns="0" tIns="0" bIns="0">
            <a:spAutoFit/>
          </a:bodyPr>
          <a:lstStyle/>
          <a:p>
            <a:pPr algn="l">
              <a:lnSpc>
                <a:spcPct val="100000"/>
              </a:lnSpc>
            </a:pPr>
            <a:r>
              <a:rPr sz="1050" b="0">
                <a:solidFill>
                  <a:srgbClr val="9AA4B5"/>
                </a:solidFill>
                <a:latin typeface="Helvetica Neue"/>
              </a:rPr>
              <a:t>page-aware · pgvector</a:t>
            </a:r>
          </a:p>
        </p:txBody>
      </p:sp>
      <p:sp>
        <p:nvSpPr>
          <p:cNvPr id="32" name="Rounded Rectangle 31"/>
          <p:cNvSpPr/>
          <p:nvPr/>
        </p:nvSpPr>
        <p:spPr>
          <a:xfrm>
            <a:off x="3291840" y="2788920"/>
            <a:ext cx="2651760" cy="868680"/>
          </a:xfrm>
          <a:prstGeom prst="roundRect">
            <a:avLst>
              <a:gd name="adj" fmla="val 12000"/>
            </a:avLst>
          </a:prstGeom>
          <a:solidFill>
            <a:srgbClr val="1B212E"/>
          </a:solidFill>
          <a:ln w="9525">
            <a:solidFill>
              <a:srgbClr val="3DC9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01568" y="2862072"/>
            <a:ext cx="2432304" cy="292608"/>
          </a:xfrm>
          <a:prstGeom prst="rect">
            <a:avLst/>
          </a:prstGeom>
          <a:noFill/>
        </p:spPr>
        <p:txBody>
          <a:bodyPr wrap="square" anchor="t" lIns="0" rIns="0" tIns="0" bIns="0">
            <a:spAutoFit/>
          </a:bodyPr>
          <a:lstStyle/>
          <a:p>
            <a:pPr algn="l">
              <a:lnSpc>
                <a:spcPct val="100000"/>
              </a:lnSpc>
            </a:pPr>
            <a:r>
              <a:rPr sz="1400" b="1">
                <a:solidFill>
                  <a:srgbClr val="F5F7FA"/>
                </a:solidFill>
                <a:latin typeface="Helvetica Neue"/>
              </a:rPr>
              <a:t>Extraction + cited chat</a:t>
            </a:r>
          </a:p>
        </p:txBody>
      </p:sp>
      <p:sp>
        <p:nvSpPr>
          <p:cNvPr id="34" name="TextBox 33"/>
          <p:cNvSpPr txBox="1"/>
          <p:nvPr/>
        </p:nvSpPr>
        <p:spPr>
          <a:xfrm>
            <a:off x="3401568" y="3172968"/>
            <a:ext cx="2432304" cy="429768"/>
          </a:xfrm>
          <a:prstGeom prst="rect">
            <a:avLst/>
          </a:prstGeom>
          <a:noFill/>
        </p:spPr>
        <p:txBody>
          <a:bodyPr wrap="square" anchor="t" lIns="0" rIns="0" tIns="0" bIns="0">
            <a:spAutoFit/>
          </a:bodyPr>
          <a:lstStyle/>
          <a:p>
            <a:pPr algn="l">
              <a:lnSpc>
                <a:spcPct val="100000"/>
              </a:lnSpc>
            </a:pPr>
            <a:r>
              <a:rPr sz="1050" b="0">
                <a:solidFill>
                  <a:srgbClr val="9AA4B5"/>
                </a:solidFill>
                <a:latin typeface="Helvetica Neue"/>
              </a:rPr>
              <a:t>schema-validated · page citations</a:t>
            </a:r>
          </a:p>
        </p:txBody>
      </p:sp>
      <p:sp>
        <p:nvSpPr>
          <p:cNvPr id="35" name="Rounded Rectangle 34"/>
          <p:cNvSpPr/>
          <p:nvPr/>
        </p:nvSpPr>
        <p:spPr>
          <a:xfrm>
            <a:off x="6309360" y="2788920"/>
            <a:ext cx="2468880" cy="868680"/>
          </a:xfrm>
          <a:prstGeom prst="roundRect">
            <a:avLst>
              <a:gd name="adj" fmla="val 12000"/>
            </a:avLst>
          </a:prstGeom>
          <a:solidFill>
            <a:srgbClr val="1B212E"/>
          </a:solidFill>
          <a:ln w="9525">
            <a:solidFill>
              <a:srgbClr val="3DC9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19088" y="2862072"/>
            <a:ext cx="2249424" cy="292608"/>
          </a:xfrm>
          <a:prstGeom prst="rect">
            <a:avLst/>
          </a:prstGeom>
          <a:noFill/>
        </p:spPr>
        <p:txBody>
          <a:bodyPr wrap="square" anchor="t" lIns="0" rIns="0" tIns="0" bIns="0">
            <a:spAutoFit/>
          </a:bodyPr>
          <a:lstStyle/>
          <a:p>
            <a:pPr algn="l">
              <a:lnSpc>
                <a:spcPct val="100000"/>
              </a:lnSpc>
            </a:pPr>
            <a:r>
              <a:rPr sz="1400" b="1">
                <a:solidFill>
                  <a:srgbClr val="F5F7FA"/>
                </a:solidFill>
                <a:latin typeface="Helvetica Neue"/>
              </a:rPr>
              <a:t>Workflow records</a:t>
            </a:r>
          </a:p>
        </p:txBody>
      </p:sp>
      <p:sp>
        <p:nvSpPr>
          <p:cNvPr id="37" name="TextBox 36"/>
          <p:cNvSpPr txBox="1"/>
          <p:nvPr/>
        </p:nvSpPr>
        <p:spPr>
          <a:xfrm>
            <a:off x="6419088" y="3172968"/>
            <a:ext cx="2249424" cy="429768"/>
          </a:xfrm>
          <a:prstGeom prst="rect">
            <a:avLst/>
          </a:prstGeom>
          <a:noFill/>
        </p:spPr>
        <p:txBody>
          <a:bodyPr wrap="square" anchor="t" lIns="0" rIns="0" tIns="0" bIns="0">
            <a:spAutoFit/>
          </a:bodyPr>
          <a:lstStyle/>
          <a:p>
            <a:pPr algn="l">
              <a:lnSpc>
                <a:spcPct val="100000"/>
              </a:lnSpc>
            </a:pPr>
            <a:r>
              <a:rPr sz="1050" b="0">
                <a:solidFill>
                  <a:srgbClr val="9AA4B5"/>
                </a:solidFill>
                <a:latin typeface="Helvetica Neue"/>
              </a:rPr>
              <a:t>persisted · synchronous today</a:t>
            </a:r>
          </a:p>
        </p:txBody>
      </p:sp>
      <p:sp>
        <p:nvSpPr>
          <p:cNvPr id="38" name="Rounded Rectangle 37"/>
          <p:cNvSpPr/>
          <p:nvPr/>
        </p:nvSpPr>
        <p:spPr>
          <a:xfrm>
            <a:off x="9144000" y="2788920"/>
            <a:ext cx="2514600" cy="868680"/>
          </a:xfrm>
          <a:prstGeom prst="roundRect">
            <a:avLst>
              <a:gd name="adj" fmla="val 12000"/>
            </a:avLst>
          </a:prstGeom>
          <a:solidFill>
            <a:srgbClr val="1B212E"/>
          </a:solidFill>
          <a:ln w="9525">
            <a:solidFill>
              <a:srgbClr val="3DC9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53728" y="2862072"/>
            <a:ext cx="2295144" cy="292608"/>
          </a:xfrm>
          <a:prstGeom prst="rect">
            <a:avLst/>
          </a:prstGeom>
          <a:noFill/>
        </p:spPr>
        <p:txBody>
          <a:bodyPr wrap="square" anchor="t" lIns="0" rIns="0" tIns="0" bIns="0">
            <a:spAutoFit/>
          </a:bodyPr>
          <a:lstStyle/>
          <a:p>
            <a:pPr algn="l">
              <a:lnSpc>
                <a:spcPct val="100000"/>
              </a:lnSpc>
            </a:pPr>
            <a:r>
              <a:rPr sz="1400" b="1">
                <a:solidFill>
                  <a:srgbClr val="F5F7FA"/>
                </a:solidFill>
                <a:latin typeface="Helvetica Neue"/>
              </a:rPr>
              <a:t>Billing</a:t>
            </a:r>
          </a:p>
        </p:txBody>
      </p:sp>
      <p:sp>
        <p:nvSpPr>
          <p:cNvPr id="40" name="TextBox 39"/>
          <p:cNvSpPr txBox="1"/>
          <p:nvPr/>
        </p:nvSpPr>
        <p:spPr>
          <a:xfrm>
            <a:off x="9253728" y="3172968"/>
            <a:ext cx="2295144" cy="429768"/>
          </a:xfrm>
          <a:prstGeom prst="rect">
            <a:avLst/>
          </a:prstGeom>
          <a:noFill/>
        </p:spPr>
        <p:txBody>
          <a:bodyPr wrap="square" anchor="t" lIns="0" rIns="0" tIns="0" bIns="0">
            <a:spAutoFit/>
          </a:bodyPr>
          <a:lstStyle/>
          <a:p>
            <a:pPr algn="l">
              <a:lnSpc>
                <a:spcPct val="100000"/>
              </a:lnSpc>
            </a:pPr>
            <a:r>
              <a:rPr sz="1050" b="0">
                <a:solidFill>
                  <a:srgbClr val="9AA4B5"/>
                </a:solidFill>
                <a:latin typeface="Helvetica Neue"/>
              </a:rPr>
              <a:t>Stripe Checkout/Portal + signed webhook</a:t>
            </a:r>
          </a:p>
        </p:txBody>
      </p:sp>
      <p:cxnSp>
        <p:nvCxnSpPr>
          <p:cNvPr id="41" name="Connector 40"/>
          <p:cNvCxnSpPr/>
          <p:nvPr/>
        </p:nvCxnSpPr>
        <p:spPr>
          <a:xfrm>
            <a:off x="2926080" y="3223260.0"/>
            <a:ext cx="365760" cy="0.0"/>
          </a:xfrm>
          <a:prstGeom prst="bentConnector3">
            <a:avLst/>
          </a:prstGeom>
          <a:ln w="19050">
            <a:solidFill>
              <a:srgbClr val="2A31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943600" y="3223260.0"/>
            <a:ext cx="365760" cy="0.0"/>
          </a:xfrm>
          <a:prstGeom prst="bentConnector3">
            <a:avLst/>
          </a:prstGeom>
          <a:ln w="19050">
            <a:solidFill>
              <a:srgbClr val="2A31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778240" y="3223260.0"/>
            <a:ext cx="365760" cy="0.0"/>
          </a:xfrm>
          <a:prstGeom prst="bentConnector3">
            <a:avLst/>
          </a:prstGeom>
          <a:ln w="19050">
            <a:solidFill>
              <a:srgbClr val="2A31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548640" y="4160520"/>
            <a:ext cx="5577840" cy="196596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4279392"/>
            <a:ext cx="5120640" cy="274320"/>
          </a:xfrm>
          <a:prstGeom prst="rect">
            <a:avLst/>
          </a:prstGeom>
          <a:noFill/>
        </p:spPr>
        <p:txBody>
          <a:bodyPr wrap="square" anchor="t" lIns="0" rIns="0" tIns="0" bIns="0">
            <a:spAutoFit/>
          </a:bodyPr>
          <a:lstStyle/>
          <a:p>
            <a:pPr algn="l">
              <a:lnSpc>
                <a:spcPct val="100000"/>
              </a:lnSpc>
            </a:pPr>
            <a:r>
              <a:rPr sz="1200" b="1">
                <a:solidFill>
                  <a:srgbClr val="F0B429"/>
                </a:solidFill>
                <a:latin typeface="Helvetica Neue"/>
              </a:rPr>
              <a:t>OPS AGENT DEMO SURFACE — SYNTHETIC FIXTURES</a:t>
            </a:r>
          </a:p>
        </p:txBody>
      </p:sp>
      <p:sp>
        <p:nvSpPr>
          <p:cNvPr id="46" name="Rounded Rectangle 45"/>
          <p:cNvSpPr/>
          <p:nvPr/>
        </p:nvSpPr>
        <p:spPr>
          <a:xfrm>
            <a:off x="777240" y="4663440"/>
            <a:ext cx="1554480" cy="822960"/>
          </a:xfrm>
          <a:prstGeom prst="roundRect">
            <a:avLst>
              <a:gd name="adj" fmla="val 12000"/>
            </a:avLst>
          </a:prstGeom>
          <a:solidFill>
            <a:srgbClr val="1B212E"/>
          </a:solidFill>
          <a:ln w="9525">
            <a:solidFill>
              <a:srgbClr val="F0B42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86968" y="4736592"/>
            <a:ext cx="1335024" cy="292608"/>
          </a:xfrm>
          <a:prstGeom prst="rect">
            <a:avLst/>
          </a:prstGeom>
          <a:noFill/>
        </p:spPr>
        <p:txBody>
          <a:bodyPr wrap="square" anchor="t" lIns="0" rIns="0" tIns="0" bIns="0">
            <a:spAutoFit/>
          </a:bodyPr>
          <a:lstStyle/>
          <a:p>
            <a:pPr algn="l">
              <a:lnSpc>
                <a:spcPct val="100000"/>
              </a:lnSpc>
            </a:pPr>
            <a:r>
              <a:rPr sz="1250" b="1">
                <a:solidFill>
                  <a:srgbClr val="F5F7FA"/>
                </a:solidFill>
                <a:latin typeface="Helvetica Neue"/>
              </a:rPr>
              <a:t>Fixture docs</a:t>
            </a:r>
          </a:p>
        </p:txBody>
      </p:sp>
      <p:sp>
        <p:nvSpPr>
          <p:cNvPr id="48" name="TextBox 47"/>
          <p:cNvSpPr txBox="1"/>
          <p:nvPr/>
        </p:nvSpPr>
        <p:spPr>
          <a:xfrm>
            <a:off x="886968" y="5047488"/>
            <a:ext cx="1335024" cy="384048"/>
          </a:xfrm>
          <a:prstGeom prst="rect">
            <a:avLst/>
          </a:prstGeom>
          <a:noFill/>
        </p:spPr>
        <p:txBody>
          <a:bodyPr wrap="square" anchor="t" lIns="0" rIns="0" tIns="0" bIns="0">
            <a:spAutoFit/>
          </a:bodyPr>
          <a:lstStyle/>
          <a:p>
            <a:pPr algn="l">
              <a:lnSpc>
                <a:spcPct val="100000"/>
              </a:lnSpc>
            </a:pPr>
            <a:r>
              <a:rPr sz="1050" b="0">
                <a:solidFill>
                  <a:srgbClr val="9AA4B5"/>
                </a:solidFill>
                <a:latin typeface="Helvetica Neue"/>
              </a:rPr>
              <a:t>MSA + invoice</a:t>
            </a:r>
          </a:p>
        </p:txBody>
      </p:sp>
      <p:sp>
        <p:nvSpPr>
          <p:cNvPr id="49" name="Rounded Rectangle 48"/>
          <p:cNvSpPr/>
          <p:nvPr/>
        </p:nvSpPr>
        <p:spPr>
          <a:xfrm>
            <a:off x="2468880" y="4663440"/>
            <a:ext cx="1691640" cy="822960"/>
          </a:xfrm>
          <a:prstGeom prst="roundRect">
            <a:avLst>
              <a:gd name="adj" fmla="val 12000"/>
            </a:avLst>
          </a:prstGeom>
          <a:solidFill>
            <a:srgbClr val="1B212E"/>
          </a:solidFill>
          <a:ln w="9525">
            <a:solidFill>
              <a:srgbClr val="F0B42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578608" y="4736592"/>
            <a:ext cx="1472184" cy="292608"/>
          </a:xfrm>
          <a:prstGeom prst="rect">
            <a:avLst/>
          </a:prstGeom>
          <a:noFill/>
        </p:spPr>
        <p:txBody>
          <a:bodyPr wrap="square" anchor="t" lIns="0" rIns="0" tIns="0" bIns="0">
            <a:spAutoFit/>
          </a:bodyPr>
          <a:lstStyle/>
          <a:p>
            <a:pPr algn="l">
              <a:lnSpc>
                <a:spcPct val="100000"/>
              </a:lnSpc>
            </a:pPr>
            <a:r>
              <a:rPr sz="1100" b="1">
                <a:solidFill>
                  <a:srgbClr val="F5F7FA"/>
                </a:solidFill>
                <a:latin typeface="Helvetica Neue"/>
              </a:rPr>
              <a:t>Actions + approvals</a:t>
            </a:r>
          </a:p>
        </p:txBody>
      </p:sp>
      <p:sp>
        <p:nvSpPr>
          <p:cNvPr id="51" name="TextBox 50"/>
          <p:cNvSpPr txBox="1"/>
          <p:nvPr/>
        </p:nvSpPr>
        <p:spPr>
          <a:xfrm>
            <a:off x="2578608" y="5166360"/>
            <a:ext cx="1472184" cy="265176"/>
          </a:xfrm>
          <a:prstGeom prst="rect">
            <a:avLst/>
          </a:prstGeom>
          <a:noFill/>
        </p:spPr>
        <p:txBody>
          <a:bodyPr wrap="square" anchor="t" lIns="0" rIns="0" tIns="0" bIns="0">
            <a:spAutoFit/>
          </a:bodyPr>
          <a:lstStyle/>
          <a:p>
            <a:pPr algn="l">
              <a:lnSpc>
                <a:spcPct val="100000"/>
              </a:lnSpc>
            </a:pPr>
            <a:r>
              <a:rPr sz="1050" b="0">
                <a:solidFill>
                  <a:srgbClr val="9AA4B5"/>
                </a:solidFill>
                <a:latin typeface="Helvetica Neue"/>
              </a:rPr>
              <a:t>owners · states</a:t>
            </a:r>
          </a:p>
        </p:txBody>
      </p:sp>
      <p:sp>
        <p:nvSpPr>
          <p:cNvPr id="52" name="Rounded Rectangle 51"/>
          <p:cNvSpPr/>
          <p:nvPr/>
        </p:nvSpPr>
        <p:spPr>
          <a:xfrm>
            <a:off x="4297680" y="4663440"/>
            <a:ext cx="1645920" cy="822960"/>
          </a:xfrm>
          <a:prstGeom prst="roundRect">
            <a:avLst>
              <a:gd name="adj" fmla="val 12000"/>
            </a:avLst>
          </a:prstGeom>
          <a:solidFill>
            <a:srgbClr val="1B212E"/>
          </a:solidFill>
          <a:ln w="9525">
            <a:solidFill>
              <a:srgbClr val="F0B42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407408" y="4736592"/>
            <a:ext cx="1426464" cy="292608"/>
          </a:xfrm>
          <a:prstGeom prst="rect">
            <a:avLst/>
          </a:prstGeom>
          <a:noFill/>
        </p:spPr>
        <p:txBody>
          <a:bodyPr wrap="square" anchor="t" lIns="0" rIns="0" tIns="0" bIns="0">
            <a:spAutoFit/>
          </a:bodyPr>
          <a:lstStyle/>
          <a:p>
            <a:pPr algn="l">
              <a:lnSpc>
                <a:spcPct val="100000"/>
              </a:lnSpc>
            </a:pPr>
            <a:r>
              <a:rPr sz="1100" b="1">
                <a:solidFill>
                  <a:srgbClr val="F5F7FA"/>
                </a:solidFill>
                <a:latin typeface="Helvetica Neue"/>
              </a:rPr>
              <a:t>$6 test preview</a:t>
            </a:r>
          </a:p>
        </p:txBody>
      </p:sp>
      <p:sp>
        <p:nvSpPr>
          <p:cNvPr id="54" name="TextBox 53"/>
          <p:cNvSpPr txBox="1"/>
          <p:nvPr/>
        </p:nvSpPr>
        <p:spPr>
          <a:xfrm>
            <a:off x="4407408" y="5166360"/>
            <a:ext cx="1426464" cy="265176"/>
          </a:xfrm>
          <a:prstGeom prst="rect">
            <a:avLst/>
          </a:prstGeom>
          <a:noFill/>
        </p:spPr>
        <p:txBody>
          <a:bodyPr wrap="square" anchor="t" lIns="0" rIns="0" tIns="0" bIns="0">
            <a:spAutoFit/>
          </a:bodyPr>
          <a:lstStyle/>
          <a:p>
            <a:pPr algn="l">
              <a:lnSpc>
                <a:spcPct val="100000"/>
              </a:lnSpc>
            </a:pPr>
            <a:r>
              <a:rPr sz="1050" b="0">
                <a:solidFill>
                  <a:srgbClr val="9AA4B5"/>
                </a:solidFill>
                <a:latin typeface="Helvetica Neue"/>
              </a:rPr>
              <a:t>no real charge</a:t>
            </a:r>
          </a:p>
        </p:txBody>
      </p:sp>
      <p:sp>
        <p:nvSpPr>
          <p:cNvPr id="55" name="TextBox 54"/>
          <p:cNvSpPr txBox="1"/>
          <p:nvPr/>
        </p:nvSpPr>
        <p:spPr>
          <a:xfrm>
            <a:off x="777240" y="5577840"/>
            <a:ext cx="5120640" cy="457200"/>
          </a:xfrm>
          <a:prstGeom prst="rect">
            <a:avLst/>
          </a:prstGeom>
          <a:noFill/>
        </p:spPr>
        <p:txBody>
          <a:bodyPr wrap="square" anchor="t" lIns="0" rIns="0" tIns="0" bIns="0">
            <a:spAutoFit/>
          </a:bodyPr>
          <a:lstStyle/>
          <a:p>
            <a:pPr algn="l">
              <a:lnSpc>
                <a:spcPct val="100000"/>
              </a:lnSpc>
            </a:pPr>
            <a:r>
              <a:rPr sz="1100" b="0">
                <a:solidFill>
                  <a:srgbClr val="9AA4B5"/>
                </a:solidFill>
                <a:latin typeface="Helvetica Neue"/>
              </a:rPr>
              <a:t>Illustrates the workflow shape — never mistaken for live integration.</a:t>
            </a:r>
          </a:p>
        </p:txBody>
      </p:sp>
      <p:sp>
        <p:nvSpPr>
          <p:cNvPr id="56" name="Rounded Rectangle 55"/>
          <p:cNvSpPr/>
          <p:nvPr/>
        </p:nvSpPr>
        <p:spPr>
          <a:xfrm>
            <a:off x="6400800" y="4160520"/>
            <a:ext cx="5239512" cy="196596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29400" y="4279392"/>
            <a:ext cx="4754880" cy="274320"/>
          </a:xfrm>
          <a:prstGeom prst="rect">
            <a:avLst/>
          </a:prstGeom>
          <a:noFill/>
        </p:spPr>
        <p:txBody>
          <a:bodyPr wrap="square" anchor="t" lIns="0" rIns="0" tIns="0" bIns="0">
            <a:spAutoFit/>
          </a:bodyPr>
          <a:lstStyle/>
          <a:p>
            <a:pPr algn="l">
              <a:lnSpc>
                <a:spcPct val="100000"/>
              </a:lnSpc>
            </a:pPr>
            <a:r>
              <a:rPr sz="1200" b="1">
                <a:solidFill>
                  <a:srgbClr val="9AA4B5"/>
                </a:solidFill>
                <a:latin typeface="Helvetica Neue"/>
              </a:rPr>
              <a:t>PLANNED PRODUCTIONIZATION — NOT YET WIRED</a:t>
            </a:r>
          </a:p>
        </p:txBody>
      </p:sp>
      <p:sp>
        <p:nvSpPr>
          <p:cNvPr id="58" name="Rounded Rectangle 57"/>
          <p:cNvSpPr/>
          <p:nvPr/>
        </p:nvSpPr>
        <p:spPr>
          <a:xfrm>
            <a:off x="6629400" y="4663440"/>
            <a:ext cx="1463040" cy="822960"/>
          </a:xfrm>
          <a:prstGeom prst="roundRect">
            <a:avLst>
              <a:gd name="adj" fmla="val 12000"/>
            </a:avLst>
          </a:prstGeom>
          <a:solidFill>
            <a:srgbClr val="1B212E"/>
          </a:solidFill>
          <a:ln w="9525">
            <a:solidFill>
              <a:srgbClr val="9AA4B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739128" y="4736592"/>
            <a:ext cx="1243584" cy="292608"/>
          </a:xfrm>
          <a:prstGeom prst="rect">
            <a:avLst/>
          </a:prstGeom>
          <a:noFill/>
        </p:spPr>
        <p:txBody>
          <a:bodyPr wrap="square" anchor="t" lIns="0" rIns="0" tIns="0" bIns="0">
            <a:spAutoFit/>
          </a:bodyPr>
          <a:lstStyle/>
          <a:p>
            <a:pPr algn="l">
              <a:lnSpc>
                <a:spcPct val="100000"/>
              </a:lnSpc>
            </a:pPr>
            <a:r>
              <a:rPr sz="1250" b="1">
                <a:solidFill>
                  <a:srgbClr val="F5F7FA"/>
                </a:solidFill>
                <a:latin typeface="Helvetica Neue"/>
              </a:rPr>
              <a:t>Inngest</a:t>
            </a:r>
          </a:p>
        </p:txBody>
      </p:sp>
      <p:sp>
        <p:nvSpPr>
          <p:cNvPr id="60" name="TextBox 59"/>
          <p:cNvSpPr txBox="1"/>
          <p:nvPr/>
        </p:nvSpPr>
        <p:spPr>
          <a:xfrm>
            <a:off x="6739128" y="5047488"/>
            <a:ext cx="1243584" cy="384048"/>
          </a:xfrm>
          <a:prstGeom prst="rect">
            <a:avLst/>
          </a:prstGeom>
          <a:noFill/>
        </p:spPr>
        <p:txBody>
          <a:bodyPr wrap="square" anchor="t" lIns="0" rIns="0" tIns="0" bIns="0">
            <a:spAutoFit/>
          </a:bodyPr>
          <a:lstStyle/>
          <a:p>
            <a:pPr algn="l">
              <a:lnSpc>
                <a:spcPct val="100000"/>
              </a:lnSpc>
            </a:pPr>
            <a:r>
              <a:rPr sz="1050" b="0">
                <a:solidFill>
                  <a:srgbClr val="9AA4B5"/>
                </a:solidFill>
                <a:latin typeface="Helvetica Neue"/>
              </a:rPr>
              <a:t>durable execution</a:t>
            </a:r>
          </a:p>
        </p:txBody>
      </p:sp>
      <p:sp>
        <p:nvSpPr>
          <p:cNvPr id="61" name="Rounded Rectangle 60"/>
          <p:cNvSpPr/>
          <p:nvPr/>
        </p:nvSpPr>
        <p:spPr>
          <a:xfrm>
            <a:off x="8229600" y="4663440"/>
            <a:ext cx="1600200" cy="822960"/>
          </a:xfrm>
          <a:prstGeom prst="roundRect">
            <a:avLst>
              <a:gd name="adj" fmla="val 12000"/>
            </a:avLst>
          </a:prstGeom>
          <a:solidFill>
            <a:srgbClr val="1B212E"/>
          </a:solidFill>
          <a:ln w="9525">
            <a:solidFill>
              <a:srgbClr val="9AA4B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339328" y="4736592"/>
            <a:ext cx="1380744" cy="292608"/>
          </a:xfrm>
          <a:prstGeom prst="rect">
            <a:avLst/>
          </a:prstGeom>
          <a:noFill/>
        </p:spPr>
        <p:txBody>
          <a:bodyPr wrap="square" anchor="t" lIns="0" rIns="0" tIns="0" bIns="0">
            <a:spAutoFit/>
          </a:bodyPr>
          <a:lstStyle/>
          <a:p>
            <a:pPr algn="l">
              <a:lnSpc>
                <a:spcPct val="100000"/>
              </a:lnSpc>
            </a:pPr>
            <a:r>
              <a:rPr sz="1150" b="1">
                <a:solidFill>
                  <a:srgbClr val="F5F7FA"/>
                </a:solidFill>
                <a:latin typeface="Helvetica Neue"/>
              </a:rPr>
              <a:t>Sentry/PostHog</a:t>
            </a:r>
          </a:p>
        </p:txBody>
      </p:sp>
      <p:sp>
        <p:nvSpPr>
          <p:cNvPr id="63" name="TextBox 62"/>
          <p:cNvSpPr txBox="1"/>
          <p:nvPr/>
        </p:nvSpPr>
        <p:spPr>
          <a:xfrm>
            <a:off x="8339328" y="5047488"/>
            <a:ext cx="1380744" cy="384048"/>
          </a:xfrm>
          <a:prstGeom prst="rect">
            <a:avLst/>
          </a:prstGeom>
          <a:noFill/>
        </p:spPr>
        <p:txBody>
          <a:bodyPr wrap="square" anchor="t" lIns="0" rIns="0" tIns="0" bIns="0">
            <a:spAutoFit/>
          </a:bodyPr>
          <a:lstStyle/>
          <a:p>
            <a:pPr algn="l">
              <a:lnSpc>
                <a:spcPct val="100000"/>
              </a:lnSpc>
            </a:pPr>
            <a:r>
              <a:rPr sz="1050" b="0">
                <a:solidFill>
                  <a:srgbClr val="9AA4B5"/>
                </a:solidFill>
                <a:latin typeface="Helvetica Neue"/>
              </a:rPr>
              <a:t>observability</a:t>
            </a:r>
          </a:p>
        </p:txBody>
      </p:sp>
      <p:sp>
        <p:nvSpPr>
          <p:cNvPr id="64" name="Rounded Rectangle 63"/>
          <p:cNvSpPr/>
          <p:nvPr/>
        </p:nvSpPr>
        <p:spPr>
          <a:xfrm>
            <a:off x="9966960" y="4663440"/>
            <a:ext cx="1554480" cy="822960"/>
          </a:xfrm>
          <a:prstGeom prst="roundRect">
            <a:avLst>
              <a:gd name="adj" fmla="val 12000"/>
            </a:avLst>
          </a:prstGeom>
          <a:solidFill>
            <a:srgbClr val="1B212E"/>
          </a:solidFill>
          <a:ln w="9525">
            <a:solidFill>
              <a:srgbClr val="9AA4B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076688" y="4736592"/>
            <a:ext cx="1335024" cy="292608"/>
          </a:xfrm>
          <a:prstGeom prst="rect">
            <a:avLst/>
          </a:prstGeom>
          <a:noFill/>
        </p:spPr>
        <p:txBody>
          <a:bodyPr wrap="square" anchor="t" lIns="0" rIns="0" tIns="0" bIns="0">
            <a:spAutoFit/>
          </a:bodyPr>
          <a:lstStyle/>
          <a:p>
            <a:pPr algn="l">
              <a:lnSpc>
                <a:spcPct val="100000"/>
              </a:lnSpc>
            </a:pPr>
            <a:r>
              <a:rPr sz="1050" b="1">
                <a:solidFill>
                  <a:srgbClr val="F5F7FA"/>
                </a:solidFill>
                <a:latin typeface="Helvetica Neue"/>
              </a:rPr>
              <a:t>NemoClaw /
OpenShell</a:t>
            </a:r>
          </a:p>
        </p:txBody>
      </p:sp>
      <p:sp>
        <p:nvSpPr>
          <p:cNvPr id="66" name="TextBox 65"/>
          <p:cNvSpPr txBox="1"/>
          <p:nvPr/>
        </p:nvSpPr>
        <p:spPr>
          <a:xfrm>
            <a:off x="10076688" y="5212080"/>
            <a:ext cx="1335024" cy="219457"/>
          </a:xfrm>
          <a:prstGeom prst="rect">
            <a:avLst/>
          </a:prstGeom>
          <a:noFill/>
        </p:spPr>
        <p:txBody>
          <a:bodyPr wrap="square" anchor="t" lIns="0" rIns="0" tIns="0" bIns="0">
            <a:spAutoFit/>
          </a:bodyPr>
          <a:lstStyle/>
          <a:p>
            <a:pPr algn="l">
              <a:lnSpc>
                <a:spcPct val="100000"/>
              </a:lnSpc>
            </a:pPr>
            <a:r>
              <a:rPr sz="1050" b="0">
                <a:solidFill>
                  <a:srgbClr val="9AA4B5"/>
                </a:solidFill>
                <a:latin typeface="Helvetica Neue"/>
              </a:rPr>
              <a:t>secure runtime</a:t>
            </a:r>
          </a:p>
        </p:txBody>
      </p:sp>
      <p:sp>
        <p:nvSpPr>
          <p:cNvPr id="67" name="TextBox 66"/>
          <p:cNvSpPr txBox="1"/>
          <p:nvPr/>
        </p:nvSpPr>
        <p:spPr>
          <a:xfrm>
            <a:off x="6629400" y="5577840"/>
            <a:ext cx="4754880" cy="457200"/>
          </a:xfrm>
          <a:prstGeom prst="rect">
            <a:avLst/>
          </a:prstGeom>
          <a:noFill/>
        </p:spPr>
        <p:txBody>
          <a:bodyPr wrap="square" anchor="t" lIns="0" rIns="0" tIns="0" bIns="0">
            <a:spAutoFit/>
          </a:bodyPr>
          <a:lstStyle/>
          <a:p>
            <a:pPr algn="l">
              <a:lnSpc>
                <a:spcPct val="100000"/>
              </a:lnSpc>
            </a:pPr>
            <a:r>
              <a:rPr sz="1100" b="0">
                <a:solidFill>
                  <a:srgbClr val="9AA4B5"/>
                </a:solidFill>
                <a:latin typeface="Helvetica Neue"/>
              </a:rPr>
              <a:t>Explicit next steps — documented, not claimed as complete.</a:t>
            </a:r>
          </a:p>
        </p:txBody>
      </p:sp>
      <p:sp>
        <p:nvSpPr>
          <p:cNvPr id="68" name="TextBox 67"/>
          <p:cNvSpPr txBox="1"/>
          <p:nvPr/>
        </p:nvSpPr>
        <p:spPr>
          <a:xfrm>
            <a:off x="548640" y="6309360"/>
            <a:ext cx="11064240" cy="320040"/>
          </a:xfrm>
          <a:prstGeom prst="rect">
            <a:avLst/>
          </a:prstGeom>
          <a:noFill/>
        </p:spPr>
        <p:txBody>
          <a:bodyPr wrap="square" anchor="t" lIns="0" rIns="0" tIns="0" bIns="0">
            <a:spAutoFit/>
          </a:bodyPr>
          <a:lstStyle/>
          <a:p>
            <a:pPr algn="l">
              <a:lnSpc>
                <a:spcPct val="100000"/>
              </a:lnSpc>
            </a:pPr>
            <a:r>
              <a:rPr sz="1300" b="0">
                <a:solidFill>
                  <a:srgbClr val="9AA4B5"/>
                </a:solidFill>
                <a:latin typeface="Helvetica Neue"/>
              </a:rPr>
              <a:t>Service-role DB access bypasses RLS — route-level workspace filters remain an explicit, tested control.</a:t>
            </a:r>
          </a:p>
        </p:txBody>
      </p:sp>
      <p:sp>
        <p:nvSpPr>
          <p:cNvPr id="69" name="TextBox 68"/>
          <p:cNvSpPr txBox="1"/>
          <p:nvPr/>
        </p:nvSpPr>
        <p:spPr>
          <a:xfrm>
            <a:off x="11658600" y="6473952"/>
            <a:ext cx="411480" cy="274320"/>
          </a:xfrm>
          <a:prstGeom prst="rect">
            <a:avLst/>
          </a:prstGeom>
          <a:noFill/>
        </p:spPr>
        <p:txBody>
          <a:bodyPr wrap="square" anchor="t" lIns="0" rIns="0" tIns="0" bIns="0">
            <a:spAutoFit/>
          </a:bodyPr>
          <a:lstStyle/>
          <a:p>
            <a:pPr algn="r">
              <a:lnSpc>
                <a:spcPct val="100000"/>
              </a:lnSpc>
            </a:pPr>
            <a:r>
              <a:rPr sz="1200" b="0">
                <a:solidFill>
                  <a:srgbClr val="9AA4B5"/>
                </a:solidFill>
                <a:latin typeface="Helvetica Neue"/>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anchor="t" lIns="0" rIns="0" tIns="0" bIns="0">
            <a:spAutoFit/>
          </a:bodyPr>
          <a:lstStyle/>
          <a:p>
            <a:pPr algn="l">
              <a:lnSpc>
                <a:spcPct val="100000"/>
              </a:lnSpc>
            </a:pPr>
            <a:r>
              <a:rPr sz="1300" b="1">
                <a:solidFill>
                  <a:srgbClr val="5B8DEF"/>
                </a:solidFill>
                <a:latin typeface="Helvetica Neue"/>
              </a:rPr>
              <a:t>EVALUATION, NOT VIBES</a:t>
            </a:r>
          </a:p>
        </p:txBody>
      </p:sp>
      <p:sp>
        <p:nvSpPr>
          <p:cNvPr id="3" name="TextBox 2"/>
          <p:cNvSpPr txBox="1"/>
          <p:nvPr/>
        </p:nvSpPr>
        <p:spPr>
          <a:xfrm>
            <a:off x="548640" y="658368"/>
            <a:ext cx="11064240" cy="777240"/>
          </a:xfrm>
          <a:prstGeom prst="rect">
            <a:avLst/>
          </a:prstGeom>
          <a:noFill/>
        </p:spPr>
        <p:txBody>
          <a:bodyPr wrap="square" anchor="t" lIns="0" rIns="0" tIns="0" bIns="0">
            <a:spAutoFit/>
          </a:bodyPr>
          <a:lstStyle/>
          <a:p>
            <a:pPr algn="l">
              <a:lnSpc>
                <a:spcPct val="100000"/>
              </a:lnSpc>
            </a:pPr>
            <a:r>
              <a:rPr sz="3200" b="1">
                <a:solidFill>
                  <a:srgbClr val="F5F7FA"/>
                </a:solidFill>
                <a:latin typeface="Helvetica Neue"/>
              </a:rPr>
              <a:t>A deterministic extraction regression harness</a:t>
            </a:r>
          </a:p>
        </p:txBody>
      </p:sp>
      <p:sp>
        <p:nvSpPr>
          <p:cNvPr id="4" name="Rounded Rectangle 3"/>
          <p:cNvSpPr/>
          <p:nvPr/>
        </p:nvSpPr>
        <p:spPr>
          <a:xfrm>
            <a:off x="548640" y="1463040"/>
            <a:ext cx="8138160" cy="420624"/>
          </a:xfrm>
          <a:prstGeom prst="roundRect">
            <a:avLst>
              <a:gd name="adj" fmla="val 50000"/>
            </a:avLst>
          </a:prstGeom>
          <a:solidFill>
            <a:srgbClr val="1B212E"/>
          </a:solidFill>
          <a:ln w="12700">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tIns="0" bIns="0" wrap="none"/>
          <a:lstStyle/>
          <a:p>
            <a:pPr algn="ctr"/>
            <a:r>
              <a:rPr sz="1300" b="1">
                <a:solidFill>
                  <a:srgbClr val="F0B429"/>
                </a:solidFill>
                <a:latin typeface="Helvetica Neue"/>
              </a:rPr>
              <a:t>Sample-prediction baseline used to validate the scorer — not live-model or production accuracy</a:t>
            </a:r>
          </a:p>
        </p:txBody>
      </p:sp>
      <p:sp>
        <p:nvSpPr>
          <p:cNvPr id="5" name="Rounded Rectangle 4"/>
          <p:cNvSpPr/>
          <p:nvPr/>
        </p:nvSpPr>
        <p:spPr>
          <a:xfrm>
            <a:off x="548640" y="2148840"/>
            <a:ext cx="1792224" cy="141732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350008"/>
            <a:ext cx="1792224" cy="548640"/>
          </a:xfrm>
          <a:prstGeom prst="rect">
            <a:avLst/>
          </a:prstGeom>
          <a:noFill/>
        </p:spPr>
        <p:txBody>
          <a:bodyPr wrap="square" anchor="t" lIns="0" rIns="0" tIns="0" bIns="0">
            <a:spAutoFit/>
          </a:bodyPr>
          <a:lstStyle/>
          <a:p>
            <a:pPr algn="ctr">
              <a:lnSpc>
                <a:spcPct val="100000"/>
              </a:lnSpc>
            </a:pPr>
            <a:r>
              <a:rPr sz="2800" b="1">
                <a:solidFill>
                  <a:srgbClr val="9AA4B5"/>
                </a:solidFill>
                <a:latin typeface="Helvetica Neue"/>
              </a:rPr>
              <a:t>3</a:t>
            </a:r>
          </a:p>
        </p:txBody>
      </p:sp>
      <p:sp>
        <p:nvSpPr>
          <p:cNvPr id="7" name="TextBox 6"/>
          <p:cNvSpPr txBox="1"/>
          <p:nvPr/>
        </p:nvSpPr>
        <p:spPr>
          <a:xfrm>
            <a:off x="640080" y="2990088"/>
            <a:ext cx="1609344" cy="502920"/>
          </a:xfrm>
          <a:prstGeom prst="rect">
            <a:avLst/>
          </a:prstGeom>
          <a:noFill/>
        </p:spPr>
        <p:txBody>
          <a:bodyPr wrap="square" anchor="t" lIns="0" rIns="0" tIns="0" bIns="0">
            <a:spAutoFit/>
          </a:bodyPr>
          <a:lstStyle/>
          <a:p>
            <a:pPr algn="ctr">
              <a:lnSpc>
                <a:spcPct val="95000"/>
              </a:lnSpc>
            </a:pPr>
            <a:r>
              <a:rPr sz="1300" b="0">
                <a:solidFill>
                  <a:srgbClr val="9AA4B5"/>
                </a:solidFill>
                <a:latin typeface="Helvetica Neue"/>
              </a:rPr>
              <a:t>synthetic document cases</a:t>
            </a:r>
          </a:p>
        </p:txBody>
      </p:sp>
      <p:sp>
        <p:nvSpPr>
          <p:cNvPr id="8" name="Rounded Rectangle 7"/>
          <p:cNvSpPr/>
          <p:nvPr/>
        </p:nvSpPr>
        <p:spPr>
          <a:xfrm>
            <a:off x="2409444" y="2148840"/>
            <a:ext cx="1792224" cy="141732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09444" y="2350008"/>
            <a:ext cx="1792224" cy="548640"/>
          </a:xfrm>
          <a:prstGeom prst="rect">
            <a:avLst/>
          </a:prstGeom>
          <a:noFill/>
        </p:spPr>
        <p:txBody>
          <a:bodyPr wrap="square" anchor="t" lIns="0" rIns="0" tIns="0" bIns="0">
            <a:spAutoFit/>
          </a:bodyPr>
          <a:lstStyle/>
          <a:p>
            <a:pPr algn="ctr">
              <a:lnSpc>
                <a:spcPct val="100000"/>
              </a:lnSpc>
            </a:pPr>
            <a:r>
              <a:rPr sz="2800" b="1">
                <a:solidFill>
                  <a:srgbClr val="9AA4B5"/>
                </a:solidFill>
                <a:latin typeface="Helvetica Neue"/>
              </a:rPr>
              <a:t>20</a:t>
            </a:r>
          </a:p>
        </p:txBody>
      </p:sp>
      <p:sp>
        <p:nvSpPr>
          <p:cNvPr id="10" name="TextBox 9"/>
          <p:cNvSpPr txBox="1"/>
          <p:nvPr/>
        </p:nvSpPr>
        <p:spPr>
          <a:xfrm>
            <a:off x="2500884" y="2990088"/>
            <a:ext cx="1609344" cy="502920"/>
          </a:xfrm>
          <a:prstGeom prst="rect">
            <a:avLst/>
          </a:prstGeom>
          <a:noFill/>
        </p:spPr>
        <p:txBody>
          <a:bodyPr wrap="square" anchor="t" lIns="0" rIns="0" tIns="0" bIns="0">
            <a:spAutoFit/>
          </a:bodyPr>
          <a:lstStyle/>
          <a:p>
            <a:pPr algn="ctr">
              <a:lnSpc>
                <a:spcPct val="95000"/>
              </a:lnSpc>
            </a:pPr>
            <a:r>
              <a:rPr sz="1300" b="0">
                <a:solidFill>
                  <a:srgbClr val="9AA4B5"/>
                </a:solidFill>
                <a:latin typeface="Helvetica Neue"/>
              </a:rPr>
              <a:t>labeled fields</a:t>
            </a:r>
          </a:p>
        </p:txBody>
      </p:sp>
      <p:sp>
        <p:nvSpPr>
          <p:cNvPr id="11" name="Rounded Rectangle 10"/>
          <p:cNvSpPr/>
          <p:nvPr/>
        </p:nvSpPr>
        <p:spPr>
          <a:xfrm>
            <a:off x="4270248" y="2148840"/>
            <a:ext cx="1792224" cy="141732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70248" y="2350008"/>
            <a:ext cx="1792224" cy="548640"/>
          </a:xfrm>
          <a:prstGeom prst="rect">
            <a:avLst/>
          </a:prstGeom>
          <a:noFill/>
        </p:spPr>
        <p:txBody>
          <a:bodyPr wrap="square" anchor="t" lIns="0" rIns="0" tIns="0" bIns="0">
            <a:spAutoFit/>
          </a:bodyPr>
          <a:lstStyle/>
          <a:p>
            <a:pPr algn="ctr">
              <a:lnSpc>
                <a:spcPct val="100000"/>
              </a:lnSpc>
            </a:pPr>
            <a:r>
              <a:rPr sz="2800" b="1">
                <a:solidFill>
                  <a:srgbClr val="5B8DEF"/>
                </a:solidFill>
                <a:latin typeface="Helvetica Neue"/>
              </a:rPr>
              <a:t>40.00%</a:t>
            </a:r>
          </a:p>
        </p:txBody>
      </p:sp>
      <p:sp>
        <p:nvSpPr>
          <p:cNvPr id="13" name="TextBox 12"/>
          <p:cNvSpPr txBox="1"/>
          <p:nvPr/>
        </p:nvSpPr>
        <p:spPr>
          <a:xfrm>
            <a:off x="4361688" y="2990088"/>
            <a:ext cx="1609344" cy="502920"/>
          </a:xfrm>
          <a:prstGeom prst="rect">
            <a:avLst/>
          </a:prstGeom>
          <a:noFill/>
        </p:spPr>
        <p:txBody>
          <a:bodyPr wrap="square" anchor="t" lIns="0" rIns="0" tIns="0" bIns="0">
            <a:spAutoFit/>
          </a:bodyPr>
          <a:lstStyle/>
          <a:p>
            <a:pPr algn="ctr">
              <a:lnSpc>
                <a:spcPct val="95000"/>
              </a:lnSpc>
            </a:pPr>
            <a:r>
              <a:rPr sz="1300" b="0">
                <a:solidFill>
                  <a:srgbClr val="9AA4B5"/>
                </a:solidFill>
                <a:latin typeface="Helvetica Neue"/>
              </a:rPr>
              <a:t>exact accuracy</a:t>
            </a:r>
          </a:p>
        </p:txBody>
      </p:sp>
      <p:sp>
        <p:nvSpPr>
          <p:cNvPr id="14" name="Rounded Rectangle 13"/>
          <p:cNvSpPr/>
          <p:nvPr/>
        </p:nvSpPr>
        <p:spPr>
          <a:xfrm>
            <a:off x="6131052" y="2148840"/>
            <a:ext cx="1792224" cy="141732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31052" y="2350008"/>
            <a:ext cx="1792224" cy="548640"/>
          </a:xfrm>
          <a:prstGeom prst="rect">
            <a:avLst/>
          </a:prstGeom>
          <a:noFill/>
        </p:spPr>
        <p:txBody>
          <a:bodyPr wrap="square" anchor="t" lIns="0" rIns="0" tIns="0" bIns="0">
            <a:spAutoFit/>
          </a:bodyPr>
          <a:lstStyle/>
          <a:p>
            <a:pPr algn="ctr">
              <a:lnSpc>
                <a:spcPct val="100000"/>
              </a:lnSpc>
            </a:pPr>
            <a:r>
              <a:rPr sz="2800" b="1">
                <a:solidFill>
                  <a:srgbClr val="5B8DEF"/>
                </a:solidFill>
                <a:latin typeface="Helvetica Neue"/>
              </a:rPr>
              <a:t>75.00%</a:t>
            </a:r>
          </a:p>
        </p:txBody>
      </p:sp>
      <p:sp>
        <p:nvSpPr>
          <p:cNvPr id="16" name="TextBox 15"/>
          <p:cNvSpPr txBox="1"/>
          <p:nvPr/>
        </p:nvSpPr>
        <p:spPr>
          <a:xfrm>
            <a:off x="6222492" y="2990088"/>
            <a:ext cx="1609344" cy="502920"/>
          </a:xfrm>
          <a:prstGeom prst="rect">
            <a:avLst/>
          </a:prstGeom>
          <a:noFill/>
        </p:spPr>
        <p:txBody>
          <a:bodyPr wrap="square" anchor="t" lIns="0" rIns="0" tIns="0" bIns="0">
            <a:spAutoFit/>
          </a:bodyPr>
          <a:lstStyle/>
          <a:p>
            <a:pPr algn="ctr">
              <a:lnSpc>
                <a:spcPct val="95000"/>
              </a:lnSpc>
            </a:pPr>
            <a:r>
              <a:rPr sz="1300" b="0">
                <a:solidFill>
                  <a:srgbClr val="9AA4B5"/>
                </a:solidFill>
                <a:latin typeface="Helvetica Neue"/>
              </a:rPr>
              <a:t>normalized accuracy</a:t>
            </a:r>
          </a:p>
        </p:txBody>
      </p:sp>
      <p:sp>
        <p:nvSpPr>
          <p:cNvPr id="17" name="Rounded Rectangle 16"/>
          <p:cNvSpPr/>
          <p:nvPr/>
        </p:nvSpPr>
        <p:spPr>
          <a:xfrm>
            <a:off x="7991856" y="2148840"/>
            <a:ext cx="1792224" cy="141732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6" y="2350008"/>
            <a:ext cx="1792224" cy="548640"/>
          </a:xfrm>
          <a:prstGeom prst="rect">
            <a:avLst/>
          </a:prstGeom>
          <a:noFill/>
        </p:spPr>
        <p:txBody>
          <a:bodyPr wrap="square" anchor="t" lIns="0" rIns="0" tIns="0" bIns="0">
            <a:spAutoFit/>
          </a:bodyPr>
          <a:lstStyle/>
          <a:p>
            <a:pPr algn="ctr">
              <a:lnSpc>
                <a:spcPct val="100000"/>
              </a:lnSpc>
            </a:pPr>
            <a:r>
              <a:rPr sz="2800" b="1">
                <a:solidFill>
                  <a:srgbClr val="3DC98E"/>
                </a:solidFill>
                <a:latin typeface="Helvetica Neue"/>
              </a:rPr>
              <a:t>94.12%</a:t>
            </a:r>
          </a:p>
        </p:txBody>
      </p:sp>
      <p:sp>
        <p:nvSpPr>
          <p:cNvPr id="19" name="TextBox 18"/>
          <p:cNvSpPr txBox="1"/>
          <p:nvPr/>
        </p:nvSpPr>
        <p:spPr>
          <a:xfrm>
            <a:off x="8083296" y="2990088"/>
            <a:ext cx="1609344" cy="502920"/>
          </a:xfrm>
          <a:prstGeom prst="rect">
            <a:avLst/>
          </a:prstGeom>
          <a:noFill/>
        </p:spPr>
        <p:txBody>
          <a:bodyPr wrap="square" anchor="t" lIns="0" rIns="0" tIns="0" bIns="0">
            <a:spAutoFit/>
          </a:bodyPr>
          <a:lstStyle/>
          <a:p>
            <a:pPr algn="ctr">
              <a:lnSpc>
                <a:spcPct val="95000"/>
              </a:lnSpc>
            </a:pPr>
            <a:r>
              <a:rPr sz="1300" b="0">
                <a:solidFill>
                  <a:srgbClr val="9AA4B5"/>
                </a:solidFill>
                <a:latin typeface="Helvetica Neue"/>
              </a:rPr>
              <a:t>presence F1</a:t>
            </a:r>
          </a:p>
        </p:txBody>
      </p:sp>
      <p:sp>
        <p:nvSpPr>
          <p:cNvPr id="20" name="Rounded Rectangle 19"/>
          <p:cNvSpPr/>
          <p:nvPr/>
        </p:nvSpPr>
        <p:spPr>
          <a:xfrm>
            <a:off x="9852660" y="2148840"/>
            <a:ext cx="1792224" cy="141732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52660" y="2350008"/>
            <a:ext cx="1792224" cy="548640"/>
          </a:xfrm>
          <a:prstGeom prst="rect">
            <a:avLst/>
          </a:prstGeom>
          <a:noFill/>
        </p:spPr>
        <p:txBody>
          <a:bodyPr wrap="square" anchor="t" lIns="0" rIns="0" tIns="0" bIns="0">
            <a:spAutoFit/>
          </a:bodyPr>
          <a:lstStyle/>
          <a:p>
            <a:pPr algn="ctr">
              <a:lnSpc>
                <a:spcPct val="100000"/>
              </a:lnSpc>
            </a:pPr>
            <a:r>
              <a:rPr sz="2800" b="1">
                <a:solidFill>
                  <a:srgbClr val="3DC98E"/>
                </a:solidFill>
                <a:latin typeface="Helvetica Neue"/>
              </a:rPr>
              <a:t>85.71%</a:t>
            </a:r>
          </a:p>
        </p:txBody>
      </p:sp>
      <p:sp>
        <p:nvSpPr>
          <p:cNvPr id="22" name="TextBox 21"/>
          <p:cNvSpPr txBox="1"/>
          <p:nvPr/>
        </p:nvSpPr>
        <p:spPr>
          <a:xfrm>
            <a:off x="9944100" y="2990088"/>
            <a:ext cx="1609344" cy="502920"/>
          </a:xfrm>
          <a:prstGeom prst="rect">
            <a:avLst/>
          </a:prstGeom>
          <a:noFill/>
        </p:spPr>
        <p:txBody>
          <a:bodyPr wrap="square" anchor="t" lIns="0" rIns="0" tIns="0" bIns="0">
            <a:spAutoFit/>
          </a:bodyPr>
          <a:lstStyle/>
          <a:p>
            <a:pPr algn="ctr">
              <a:lnSpc>
                <a:spcPct val="95000"/>
              </a:lnSpc>
            </a:pPr>
            <a:r>
              <a:rPr sz="1300" b="0">
                <a:solidFill>
                  <a:srgbClr val="9AA4B5"/>
                </a:solidFill>
                <a:latin typeface="Helvetica Neue"/>
              </a:rPr>
              <a:t>list-item F1</a:t>
            </a:r>
          </a:p>
        </p:txBody>
      </p:sp>
      <p:sp>
        <p:nvSpPr>
          <p:cNvPr id="23" name="Rounded Rectangle 22"/>
          <p:cNvSpPr/>
          <p:nvPr/>
        </p:nvSpPr>
        <p:spPr>
          <a:xfrm>
            <a:off x="548640" y="3931920"/>
            <a:ext cx="6949440" cy="210312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114800"/>
            <a:ext cx="6400800" cy="320040"/>
          </a:xfrm>
          <a:prstGeom prst="rect">
            <a:avLst/>
          </a:prstGeom>
          <a:noFill/>
        </p:spPr>
        <p:txBody>
          <a:bodyPr wrap="square" anchor="t" lIns="0" rIns="0" tIns="0" bIns="0">
            <a:spAutoFit/>
          </a:bodyPr>
          <a:lstStyle/>
          <a:p>
            <a:pPr algn="l">
              <a:lnSpc>
                <a:spcPct val="100000"/>
              </a:lnSpc>
            </a:pPr>
            <a:r>
              <a:rPr sz="1300" b="1">
                <a:solidFill>
                  <a:srgbClr val="5B8DEF"/>
                </a:solidFill>
                <a:latin typeface="Helvetica Neue"/>
              </a:rPr>
              <a:t>WHY EXACT MATCHING UNDERSTATES QUALITY</a:t>
            </a:r>
          </a:p>
        </p:txBody>
      </p:sp>
      <p:sp>
        <p:nvSpPr>
          <p:cNvPr id="25" name="TextBox 24"/>
          <p:cNvSpPr txBox="1"/>
          <p:nvPr/>
        </p:nvSpPr>
        <p:spPr>
          <a:xfrm>
            <a:off x="822960" y="4617720"/>
            <a:ext cx="1417320" cy="274320"/>
          </a:xfrm>
          <a:prstGeom prst="rect">
            <a:avLst/>
          </a:prstGeom>
          <a:noFill/>
        </p:spPr>
        <p:txBody>
          <a:bodyPr wrap="square" anchor="t" lIns="0" rIns="0" tIns="0" bIns="0">
            <a:spAutoFit/>
          </a:bodyPr>
          <a:lstStyle/>
          <a:p>
            <a:pPr algn="l">
              <a:lnSpc>
                <a:spcPct val="100000"/>
              </a:lnSpc>
            </a:pPr>
            <a:r>
              <a:rPr sz="1500" b="0">
                <a:solidFill>
                  <a:srgbClr val="F5F7FA"/>
                </a:solidFill>
                <a:latin typeface="Helvetica Neue"/>
              </a:rPr>
              <a:t>Exact</a:t>
            </a:r>
          </a:p>
        </p:txBody>
      </p:sp>
      <p:sp>
        <p:nvSpPr>
          <p:cNvPr id="26" name="Rounded Rectangle 25"/>
          <p:cNvSpPr/>
          <p:nvPr/>
        </p:nvSpPr>
        <p:spPr>
          <a:xfrm>
            <a:off x="2286000" y="4645152"/>
            <a:ext cx="3566160" cy="256032"/>
          </a:xfrm>
          <a:prstGeom prst="roundRect">
            <a:avLst>
              <a:gd name="adj" fmla="val 50000"/>
            </a:avLst>
          </a:prstGeom>
          <a:solidFill>
            <a:srgbClr val="1B212E"/>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286000" y="4645152"/>
            <a:ext cx="1426464" cy="256032"/>
          </a:xfrm>
          <a:prstGeom prst="roundRect">
            <a:avLst>
              <a:gd name="adj" fmla="val 50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89320" y="4617720"/>
            <a:ext cx="1554480" cy="274320"/>
          </a:xfrm>
          <a:prstGeom prst="rect">
            <a:avLst/>
          </a:prstGeom>
          <a:noFill/>
        </p:spPr>
        <p:txBody>
          <a:bodyPr wrap="square" anchor="t" lIns="0" rIns="0" tIns="0" bIns="0">
            <a:spAutoFit/>
          </a:bodyPr>
          <a:lstStyle/>
          <a:p>
            <a:pPr algn="l">
              <a:lnSpc>
                <a:spcPct val="100000"/>
              </a:lnSpc>
            </a:pPr>
            <a:r>
              <a:rPr sz="1400" b="0">
                <a:solidFill>
                  <a:srgbClr val="9AA4B5"/>
                </a:solidFill>
                <a:latin typeface="Helvetica Neue"/>
              </a:rPr>
              <a:t>40.00%  (8/20)</a:t>
            </a:r>
          </a:p>
        </p:txBody>
      </p:sp>
      <p:sp>
        <p:nvSpPr>
          <p:cNvPr id="29" name="TextBox 28"/>
          <p:cNvSpPr txBox="1"/>
          <p:nvPr/>
        </p:nvSpPr>
        <p:spPr>
          <a:xfrm>
            <a:off x="822960" y="5184648"/>
            <a:ext cx="1417320" cy="274320"/>
          </a:xfrm>
          <a:prstGeom prst="rect">
            <a:avLst/>
          </a:prstGeom>
          <a:noFill/>
        </p:spPr>
        <p:txBody>
          <a:bodyPr wrap="square" anchor="t" lIns="0" rIns="0" tIns="0" bIns="0">
            <a:spAutoFit/>
          </a:bodyPr>
          <a:lstStyle/>
          <a:p>
            <a:pPr algn="l">
              <a:lnSpc>
                <a:spcPct val="100000"/>
              </a:lnSpc>
            </a:pPr>
            <a:r>
              <a:rPr sz="1500" b="0">
                <a:solidFill>
                  <a:srgbClr val="F5F7FA"/>
                </a:solidFill>
                <a:latin typeface="Helvetica Neue"/>
              </a:rPr>
              <a:t>Normalized</a:t>
            </a:r>
          </a:p>
        </p:txBody>
      </p:sp>
      <p:sp>
        <p:nvSpPr>
          <p:cNvPr id="30" name="Rounded Rectangle 29"/>
          <p:cNvSpPr/>
          <p:nvPr/>
        </p:nvSpPr>
        <p:spPr>
          <a:xfrm>
            <a:off x="2286000" y="5212080"/>
            <a:ext cx="3566160" cy="256032"/>
          </a:xfrm>
          <a:prstGeom prst="roundRect">
            <a:avLst>
              <a:gd name="adj" fmla="val 50000"/>
            </a:avLst>
          </a:prstGeom>
          <a:solidFill>
            <a:srgbClr val="1B212E"/>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286000" y="5212080"/>
            <a:ext cx="2674620" cy="256032"/>
          </a:xfrm>
          <a:prstGeom prst="roundRect">
            <a:avLst>
              <a:gd name="adj" fmla="val 50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89320" y="5184648"/>
            <a:ext cx="1554480" cy="274320"/>
          </a:xfrm>
          <a:prstGeom prst="rect">
            <a:avLst/>
          </a:prstGeom>
          <a:noFill/>
        </p:spPr>
        <p:txBody>
          <a:bodyPr wrap="square" anchor="t" lIns="0" rIns="0" tIns="0" bIns="0">
            <a:spAutoFit/>
          </a:bodyPr>
          <a:lstStyle/>
          <a:p>
            <a:pPr algn="l">
              <a:lnSpc>
                <a:spcPct val="100000"/>
              </a:lnSpc>
            </a:pPr>
            <a:r>
              <a:rPr sz="1400" b="0">
                <a:solidFill>
                  <a:srgbClr val="9AA4B5"/>
                </a:solidFill>
                <a:latin typeface="Helvetica Neue"/>
              </a:rPr>
              <a:t>75.00%  (15/20)</a:t>
            </a:r>
          </a:p>
        </p:txBody>
      </p:sp>
      <p:sp>
        <p:nvSpPr>
          <p:cNvPr id="33" name="TextBox 32"/>
          <p:cNvSpPr txBox="1"/>
          <p:nvPr/>
        </p:nvSpPr>
        <p:spPr>
          <a:xfrm>
            <a:off x="822960" y="5724144"/>
            <a:ext cx="6400800" cy="274320"/>
          </a:xfrm>
          <a:prstGeom prst="rect">
            <a:avLst/>
          </a:prstGeom>
          <a:noFill/>
        </p:spPr>
        <p:txBody>
          <a:bodyPr wrap="square" anchor="t" lIns="0" rIns="0" tIns="0" bIns="0">
            <a:spAutoFit/>
          </a:bodyPr>
          <a:lstStyle/>
          <a:p>
            <a:pPr algn="l">
              <a:lnSpc>
                <a:spcPct val="100000"/>
              </a:lnSpc>
            </a:pPr>
            <a:r>
              <a:rPr sz="1250" b="0">
                <a:solidFill>
                  <a:srgbClr val="9AA4B5"/>
                </a:solidFill>
                <a:latin typeface="Helvetica Neue"/>
              </a:rPr>
              <a:t>Same predictions, scored two ways — normalization isolates formatting noise.</a:t>
            </a:r>
          </a:p>
        </p:txBody>
      </p:sp>
      <p:sp>
        <p:nvSpPr>
          <p:cNvPr id="34" name="Rounded Rectangle 33"/>
          <p:cNvSpPr/>
          <p:nvPr/>
        </p:nvSpPr>
        <p:spPr>
          <a:xfrm>
            <a:off x="7772400" y="3931920"/>
            <a:ext cx="3867912" cy="210312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0" y="4114800"/>
            <a:ext cx="3383280" cy="320040"/>
          </a:xfrm>
          <a:prstGeom prst="rect">
            <a:avLst/>
          </a:prstGeom>
          <a:noFill/>
        </p:spPr>
        <p:txBody>
          <a:bodyPr wrap="square" anchor="t" lIns="0" rIns="0" tIns="0" bIns="0">
            <a:spAutoFit/>
          </a:bodyPr>
          <a:lstStyle/>
          <a:p>
            <a:pPr algn="l">
              <a:lnSpc>
                <a:spcPct val="100000"/>
              </a:lnSpc>
            </a:pPr>
            <a:r>
              <a:rPr sz="1300" b="1">
                <a:solidFill>
                  <a:srgbClr val="3DC98E"/>
                </a:solidFill>
                <a:latin typeface="Helvetica Neue"/>
              </a:rPr>
              <a:t>TYPE-AWARE NORMALIZATION</a:t>
            </a:r>
          </a:p>
        </p:txBody>
      </p:sp>
      <p:sp>
        <p:nvSpPr>
          <p:cNvPr id="36" name="TextBox 35"/>
          <p:cNvSpPr txBox="1"/>
          <p:nvPr/>
        </p:nvSpPr>
        <p:spPr>
          <a:xfrm>
            <a:off x="8046720" y="4526280"/>
            <a:ext cx="3383280" cy="1463040"/>
          </a:xfrm>
          <a:prstGeom prst="rect">
            <a:avLst/>
          </a:prstGeom>
          <a:noFill/>
        </p:spPr>
        <p:txBody>
          <a:bodyPr wrap="square" anchor="t" lIns="0" rIns="0" tIns="0" bIns="0">
            <a:spAutoFit/>
          </a:bodyPr>
          <a:lstStyle/>
          <a:p>
            <a:pPr algn="l">
              <a:lnSpc>
                <a:spcPct val="125000"/>
              </a:lnSpc>
            </a:pPr>
            <a:r>
              <a:rPr sz="1500" b="0">
                <a:solidFill>
                  <a:srgbClr val="F5F7FA"/>
                </a:solidFill>
                <a:latin typeface="Helvetica Neue"/>
              </a:rPr>
              <a:t>Casing and whitespace</a:t>
            </a:r>
          </a:p>
          <a:p>
            <a:pPr algn="l">
              <a:lnSpc>
                <a:spcPct val="125000"/>
              </a:lnSpc>
            </a:pPr>
            <a:r>
              <a:rPr sz="1500" b="0">
                <a:solidFill>
                  <a:srgbClr val="F5F7FA"/>
                </a:solidFill>
                <a:latin typeface="Helvetica Neue"/>
              </a:rPr>
              <a:t>Currency and numbers</a:t>
            </a:r>
          </a:p>
          <a:p>
            <a:pPr algn="l">
              <a:lnSpc>
                <a:spcPct val="125000"/>
              </a:lnSpc>
            </a:pPr>
            <a:r>
              <a:rPr sz="1500" b="0">
                <a:solidFill>
                  <a:srgbClr val="F5F7FA"/>
                </a:solidFill>
                <a:latin typeface="Helvetica Neue"/>
              </a:rPr>
              <a:t>Dates and booleans</a:t>
            </a:r>
          </a:p>
          <a:p>
            <a:pPr algn="l">
              <a:lnSpc>
                <a:spcPct val="125000"/>
              </a:lnSpc>
            </a:pPr>
            <a:r>
              <a:rPr sz="1500" b="0">
                <a:solidFill>
                  <a:srgbClr val="F5F7FA"/>
                </a:solidFill>
                <a:latin typeface="Helvetica Neue"/>
              </a:rPr>
              <a:t>Order-insensitive lists</a:t>
            </a:r>
          </a:p>
        </p:txBody>
      </p:sp>
      <p:sp>
        <p:nvSpPr>
          <p:cNvPr id="37" name="TextBox 36"/>
          <p:cNvSpPr txBox="1"/>
          <p:nvPr/>
        </p:nvSpPr>
        <p:spPr>
          <a:xfrm>
            <a:off x="11658600" y="6473952"/>
            <a:ext cx="411480" cy="274320"/>
          </a:xfrm>
          <a:prstGeom prst="rect">
            <a:avLst/>
          </a:prstGeom>
          <a:noFill/>
        </p:spPr>
        <p:txBody>
          <a:bodyPr wrap="square" anchor="t" lIns="0" rIns="0" tIns="0" bIns="0">
            <a:spAutoFit/>
          </a:bodyPr>
          <a:lstStyle/>
          <a:p>
            <a:pPr algn="r">
              <a:lnSpc>
                <a:spcPct val="100000"/>
              </a:lnSpc>
            </a:pPr>
            <a:r>
              <a:rPr sz="1200" b="0">
                <a:solidFill>
                  <a:srgbClr val="9AA4B5"/>
                </a:solidFill>
                <a:latin typeface="Helvetica Neue"/>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anchor="t" lIns="0" rIns="0" tIns="0" bIns="0">
            <a:spAutoFit/>
          </a:bodyPr>
          <a:lstStyle/>
          <a:p>
            <a:pPr algn="l">
              <a:lnSpc>
                <a:spcPct val="100000"/>
              </a:lnSpc>
            </a:pPr>
            <a:r>
              <a:rPr sz="1300" b="1">
                <a:solidFill>
                  <a:srgbClr val="5B8DEF"/>
                </a:solidFill>
                <a:latin typeface="Helvetica Neue"/>
              </a:rPr>
              <a:t>APPROVALS, BILLING, AND SECURE-RUNTIME DIRECTION</a:t>
            </a:r>
          </a:p>
        </p:txBody>
      </p:sp>
      <p:sp>
        <p:nvSpPr>
          <p:cNvPr id="3" name="TextBox 2"/>
          <p:cNvSpPr txBox="1"/>
          <p:nvPr/>
        </p:nvSpPr>
        <p:spPr>
          <a:xfrm>
            <a:off x="548640" y="658368"/>
            <a:ext cx="11064240" cy="777240"/>
          </a:xfrm>
          <a:prstGeom prst="rect">
            <a:avLst/>
          </a:prstGeom>
          <a:noFill/>
        </p:spPr>
        <p:txBody>
          <a:bodyPr wrap="square" anchor="t" lIns="0" rIns="0" tIns="0" bIns="0">
            <a:spAutoFit/>
          </a:bodyPr>
          <a:lstStyle/>
          <a:p>
            <a:pPr algn="l">
              <a:lnSpc>
                <a:spcPct val="100000"/>
              </a:lnSpc>
            </a:pPr>
            <a:r>
              <a:rPr sz="3000" b="1">
                <a:solidFill>
                  <a:srgbClr val="F5F7FA"/>
                </a:solidFill>
                <a:latin typeface="Helvetica Neue"/>
              </a:rPr>
              <a:t>Agentic value without uncontrolled action</a:t>
            </a:r>
          </a:p>
        </p:txBody>
      </p:sp>
      <p:pic>
        <p:nvPicPr>
          <p:cNvPr id="4" name="Picture 3" descr="Stripe test-mode business operation card with waiting-for-human-approval notice, Hermes operator trace, and NVIDIA secure runtime path panel"/>
          <p:cNvPicPr>
            <a:picLocks noChangeAspect="1"/>
          </p:cNvPicPr>
          <p:nvPr/>
        </p:nvPicPr>
        <p:blipFill>
          <a:blip r:embed="rId2"/>
          <a:stretch>
            <a:fillRect/>
          </a:stretch>
        </p:blipFill>
        <p:spPr>
          <a:xfrm>
            <a:off x="2713540" y="1417320"/>
            <a:ext cx="6764614" cy="2788920"/>
          </a:xfrm>
          <a:prstGeom prst="rect">
            <a:avLst/>
          </a:prstGeom>
          <a:ln w="12700">
            <a:solidFill>
              <a:srgbClr val="2A3140"/>
            </a:solidFill>
          </a:ln>
        </p:spPr>
      </p:pic>
      <p:sp>
        <p:nvSpPr>
          <p:cNvPr id="5" name="Rounded Rectangle 4"/>
          <p:cNvSpPr/>
          <p:nvPr/>
        </p:nvSpPr>
        <p:spPr>
          <a:xfrm>
            <a:off x="548640" y="4389120"/>
            <a:ext cx="3602736" cy="169164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517136"/>
            <a:ext cx="3145536" cy="320040"/>
          </a:xfrm>
          <a:prstGeom prst="rect">
            <a:avLst/>
          </a:prstGeom>
          <a:noFill/>
        </p:spPr>
        <p:txBody>
          <a:bodyPr wrap="square" anchor="t" lIns="0" rIns="0" tIns="0" bIns="0">
            <a:spAutoFit/>
          </a:bodyPr>
          <a:lstStyle/>
          <a:p>
            <a:pPr algn="l">
              <a:lnSpc>
                <a:spcPct val="100000"/>
              </a:lnSpc>
            </a:pPr>
            <a:r>
              <a:rPr sz="1250" b="1">
                <a:solidFill>
                  <a:srgbClr val="3DC98E"/>
                </a:solidFill>
                <a:latin typeface="Helvetica Neue"/>
              </a:rPr>
              <a:t>DEMONSTRATED ON THE SITE</a:t>
            </a:r>
          </a:p>
        </p:txBody>
      </p:sp>
      <p:sp>
        <p:nvSpPr>
          <p:cNvPr id="7" name="TextBox 6"/>
          <p:cNvSpPr txBox="1"/>
          <p:nvPr/>
        </p:nvSpPr>
        <p:spPr>
          <a:xfrm>
            <a:off x="777240" y="4864608"/>
            <a:ext cx="3145536" cy="1143000"/>
          </a:xfrm>
          <a:prstGeom prst="rect">
            <a:avLst/>
          </a:prstGeom>
          <a:noFill/>
        </p:spPr>
        <p:txBody>
          <a:bodyPr wrap="square" anchor="t" lIns="0" rIns="0" tIns="0" bIns="0">
            <a:spAutoFit/>
          </a:bodyPr>
          <a:lstStyle/>
          <a:p>
            <a:pPr algn="l">
              <a:lnSpc>
                <a:spcPct val="112000"/>
              </a:lnSpc>
            </a:pPr>
            <a:r>
              <a:rPr sz="1300" b="0">
                <a:solidFill>
                  <a:srgbClr val="F5F7FA"/>
                </a:solidFill>
                <a:latin typeface="Helvetica Neue"/>
              </a:rPr>
              <a:t>· Visible action owners and states</a:t>
            </a:r>
          </a:p>
          <a:p>
            <a:pPr algn="l">
              <a:lnSpc>
                <a:spcPct val="112000"/>
              </a:lnSpc>
            </a:pPr>
            <a:r>
              <a:rPr sz="1300" b="0">
                <a:solidFill>
                  <a:srgbClr val="F5F7FA"/>
                </a:solidFill>
                <a:latin typeface="Helvetica Neue"/>
              </a:rPr>
              <a:t>· Stripe test-mode usage preview</a:t>
            </a:r>
          </a:p>
          <a:p>
            <a:pPr algn="l">
              <a:lnSpc>
                <a:spcPct val="112000"/>
              </a:lnSpc>
            </a:pPr>
            <a:r>
              <a:rPr sz="1300" b="0">
                <a:solidFill>
                  <a:srgbClr val="F5F7FA"/>
                </a:solidFill>
                <a:latin typeface="Helvetica Neue"/>
              </a:rPr>
              <a:t>· External spend/provisioning paused</a:t>
            </a:r>
          </a:p>
        </p:txBody>
      </p:sp>
      <p:sp>
        <p:nvSpPr>
          <p:cNvPr id="8" name="Rounded Rectangle 7"/>
          <p:cNvSpPr/>
          <p:nvPr/>
        </p:nvSpPr>
        <p:spPr>
          <a:xfrm>
            <a:off x="4370832" y="4389120"/>
            <a:ext cx="3602736" cy="169164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9432" y="4517136"/>
            <a:ext cx="3145536" cy="320040"/>
          </a:xfrm>
          <a:prstGeom prst="rect">
            <a:avLst/>
          </a:prstGeom>
          <a:noFill/>
        </p:spPr>
        <p:txBody>
          <a:bodyPr wrap="square" anchor="t" lIns="0" rIns="0" tIns="0" bIns="0">
            <a:spAutoFit/>
          </a:bodyPr>
          <a:lstStyle/>
          <a:p>
            <a:pPr algn="l">
              <a:lnSpc>
                <a:spcPct val="100000"/>
              </a:lnSpc>
            </a:pPr>
            <a:r>
              <a:rPr sz="1250" b="1">
                <a:solidFill>
                  <a:srgbClr val="5B8DEF"/>
                </a:solidFill>
                <a:latin typeface="Helvetica Neue"/>
              </a:rPr>
              <a:t>IMPLEMENTED IN THE REPOSITORY</a:t>
            </a:r>
          </a:p>
        </p:txBody>
      </p:sp>
      <p:sp>
        <p:nvSpPr>
          <p:cNvPr id="10" name="TextBox 9"/>
          <p:cNvSpPr txBox="1"/>
          <p:nvPr/>
        </p:nvSpPr>
        <p:spPr>
          <a:xfrm>
            <a:off x="4599432" y="4864608"/>
            <a:ext cx="3145536" cy="1143000"/>
          </a:xfrm>
          <a:prstGeom prst="rect">
            <a:avLst/>
          </a:prstGeom>
          <a:noFill/>
        </p:spPr>
        <p:txBody>
          <a:bodyPr wrap="square" anchor="t" lIns="0" rIns="0" tIns="0" bIns="0">
            <a:spAutoFit/>
          </a:bodyPr>
          <a:lstStyle/>
          <a:p>
            <a:pPr algn="l">
              <a:lnSpc>
                <a:spcPct val="112000"/>
              </a:lnSpc>
            </a:pPr>
            <a:r>
              <a:rPr sz="1300" b="0">
                <a:solidFill>
                  <a:srgbClr val="F5F7FA"/>
                </a:solidFill>
                <a:latin typeface="Helvetica Neue"/>
              </a:rPr>
              <a:t>· Stripe Checkout / Portal routes</a:t>
            </a:r>
          </a:p>
          <a:p>
            <a:pPr algn="l">
              <a:lnSpc>
                <a:spcPct val="112000"/>
              </a:lnSpc>
            </a:pPr>
            <a:r>
              <a:rPr sz="1300" b="0">
                <a:solidFill>
                  <a:srgbClr val="F5F7FA"/>
                </a:solidFill>
                <a:latin typeface="Helvetica Neue"/>
              </a:rPr>
              <a:t>· Signature-verified subscription webhook</a:t>
            </a:r>
          </a:p>
          <a:p>
            <a:pPr algn="l">
              <a:lnSpc>
                <a:spcPct val="112000"/>
              </a:lnSpc>
            </a:pPr>
            <a:r>
              <a:rPr sz="1300" b="0">
                <a:solidFill>
                  <a:srgbClr val="F5F7FA"/>
                </a:solidFill>
                <a:latin typeface="Helvetica Neue"/>
              </a:rPr>
              <a:t>· Persisted workflow records</a:t>
            </a:r>
          </a:p>
        </p:txBody>
      </p:sp>
      <p:sp>
        <p:nvSpPr>
          <p:cNvPr id="11" name="Rounded Rectangle 10"/>
          <p:cNvSpPr/>
          <p:nvPr/>
        </p:nvSpPr>
        <p:spPr>
          <a:xfrm>
            <a:off x="8193024" y="4389120"/>
            <a:ext cx="3602736" cy="169164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21624" y="4517136"/>
            <a:ext cx="3145536" cy="320040"/>
          </a:xfrm>
          <a:prstGeom prst="rect">
            <a:avLst/>
          </a:prstGeom>
          <a:noFill/>
        </p:spPr>
        <p:txBody>
          <a:bodyPr wrap="square" anchor="t" lIns="0" rIns="0" tIns="0" bIns="0">
            <a:spAutoFit/>
          </a:bodyPr>
          <a:lstStyle/>
          <a:p>
            <a:pPr algn="l">
              <a:lnSpc>
                <a:spcPct val="100000"/>
              </a:lnSpc>
            </a:pPr>
            <a:r>
              <a:rPr sz="1250" b="1">
                <a:solidFill>
                  <a:srgbClr val="9AA4B5"/>
                </a:solidFill>
                <a:latin typeface="Helvetica Neue"/>
              </a:rPr>
              <a:t>VALIDATED PATH — NOT YET INTEGRATED</a:t>
            </a:r>
          </a:p>
        </p:txBody>
      </p:sp>
      <p:sp>
        <p:nvSpPr>
          <p:cNvPr id="13" name="TextBox 12"/>
          <p:cNvSpPr txBox="1"/>
          <p:nvPr/>
        </p:nvSpPr>
        <p:spPr>
          <a:xfrm>
            <a:off x="8421624" y="4864608"/>
            <a:ext cx="3145536" cy="1143000"/>
          </a:xfrm>
          <a:prstGeom prst="rect">
            <a:avLst/>
          </a:prstGeom>
          <a:noFill/>
        </p:spPr>
        <p:txBody>
          <a:bodyPr wrap="square" anchor="t" lIns="0" rIns="0" tIns="0" bIns="0">
            <a:spAutoFit/>
          </a:bodyPr>
          <a:lstStyle/>
          <a:p>
            <a:pPr algn="l">
              <a:lnSpc>
                <a:spcPct val="112000"/>
              </a:lnSpc>
            </a:pPr>
            <a:r>
              <a:rPr sz="1300" b="0">
                <a:solidFill>
                  <a:srgbClr val="F5F7FA"/>
                </a:solidFill>
                <a:latin typeface="Helvetica Neue"/>
              </a:rPr>
              <a:t>· NVIDIA NemoClaw/OpenShell policy-governed Hermes sandbox</a:t>
            </a:r>
          </a:p>
          <a:p>
            <a:pPr algn="l">
              <a:lnSpc>
                <a:spcPct val="112000"/>
              </a:lnSpc>
            </a:pPr>
            <a:r>
              <a:rPr sz="1300" b="0">
                <a:solidFill>
                  <a:srgbClr val="F5F7FA"/>
                </a:solidFill>
                <a:latin typeface="Helvetica Neue"/>
              </a:rPr>
              <a:t>· Controlled network access</a:t>
            </a:r>
          </a:p>
          <a:p>
            <a:pPr algn="l">
              <a:lnSpc>
                <a:spcPct val="112000"/>
              </a:lnSpc>
            </a:pPr>
            <a:r>
              <a:rPr sz="1300" b="0">
                <a:solidFill>
                  <a:srgbClr val="F5F7FA"/>
                </a:solidFill>
                <a:latin typeface="Helvetica Neue"/>
              </a:rPr>
              <a:t>· Managed credential/inference handling</a:t>
            </a:r>
          </a:p>
        </p:txBody>
      </p:sp>
      <p:sp>
        <p:nvSpPr>
          <p:cNvPr id="14" name="TextBox 13"/>
          <p:cNvSpPr txBox="1"/>
          <p:nvPr/>
        </p:nvSpPr>
        <p:spPr>
          <a:xfrm>
            <a:off x="548640" y="6199632"/>
            <a:ext cx="11064240" cy="502920"/>
          </a:xfrm>
          <a:prstGeom prst="rect">
            <a:avLst/>
          </a:prstGeom>
          <a:noFill/>
        </p:spPr>
        <p:txBody>
          <a:bodyPr wrap="square" anchor="t" lIns="0" rIns="0" tIns="0" bIns="0">
            <a:spAutoFit/>
          </a:bodyPr>
          <a:lstStyle/>
          <a:p>
            <a:pPr algn="l">
              <a:lnSpc>
                <a:spcPct val="100000"/>
              </a:lnSpc>
            </a:pPr>
            <a:r>
              <a:rPr sz="1400" b="1">
                <a:solidFill>
                  <a:srgbClr val="F0B429"/>
                </a:solidFill>
                <a:latin typeface="Helvetica Neue"/>
              </a:rPr>
              <a:t>NVIDIA NemoClaw/OpenShell is a validated secure-runtime direction, not a completed Paperline integration.  </a:t>
            </a:r>
            <a:r>
              <a:rPr sz="1200" b="0">
                <a:solidFill>
                  <a:srgbClr val="9AA4B5"/>
                </a:solidFill>
                <a:latin typeface="Helvetica Neue"/>
              </a:rPr>
              <a:t>Source: NVIDIA/NemoClaw and NVIDIA/OpenShell official GitHub documentation, verified 2026-07-14.</a:t>
            </a:r>
          </a:p>
        </p:txBody>
      </p:sp>
      <p:sp>
        <p:nvSpPr>
          <p:cNvPr id="15" name="TextBox 14"/>
          <p:cNvSpPr txBox="1"/>
          <p:nvPr/>
        </p:nvSpPr>
        <p:spPr>
          <a:xfrm>
            <a:off x="11658600" y="6473952"/>
            <a:ext cx="411480" cy="274320"/>
          </a:xfrm>
          <a:prstGeom prst="rect">
            <a:avLst/>
          </a:prstGeom>
          <a:noFill/>
        </p:spPr>
        <p:txBody>
          <a:bodyPr wrap="square" anchor="t" lIns="0" rIns="0" tIns="0" bIns="0">
            <a:spAutoFit/>
          </a:bodyPr>
          <a:lstStyle/>
          <a:p>
            <a:pPr algn="r">
              <a:lnSpc>
                <a:spcPct val="100000"/>
              </a:lnSpc>
            </a:pPr>
            <a:r>
              <a:rPr sz="1200" b="0">
                <a:solidFill>
                  <a:srgbClr val="9AA4B5"/>
                </a:solidFill>
                <a:latin typeface="Helvetica Neu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anchor="t" lIns="0" rIns="0" tIns="0" bIns="0">
            <a:spAutoFit/>
          </a:bodyPr>
          <a:lstStyle/>
          <a:p>
            <a:pPr algn="l">
              <a:lnSpc>
                <a:spcPct val="100000"/>
              </a:lnSpc>
            </a:pPr>
            <a:r>
              <a:rPr sz="1300" b="1">
                <a:solidFill>
                  <a:srgbClr val="5B8DEF"/>
                </a:solidFill>
                <a:latin typeface="Helvetica Neue"/>
              </a:rPr>
              <a:t>ENGINEERING TRADEOFFS AND NEXT STEPS</a:t>
            </a:r>
          </a:p>
        </p:txBody>
      </p:sp>
      <p:sp>
        <p:nvSpPr>
          <p:cNvPr id="3" name="TextBox 2"/>
          <p:cNvSpPr txBox="1"/>
          <p:nvPr/>
        </p:nvSpPr>
        <p:spPr>
          <a:xfrm>
            <a:off x="548640" y="658368"/>
            <a:ext cx="11064240" cy="777240"/>
          </a:xfrm>
          <a:prstGeom prst="rect">
            <a:avLst/>
          </a:prstGeom>
          <a:noFill/>
        </p:spPr>
        <p:txBody>
          <a:bodyPr wrap="square" anchor="t" lIns="0" rIns="0" tIns="0" bIns="0">
            <a:spAutoFit/>
          </a:bodyPr>
          <a:lstStyle/>
          <a:p>
            <a:pPr algn="l">
              <a:lnSpc>
                <a:spcPct val="100000"/>
              </a:lnSpc>
            </a:pPr>
            <a:r>
              <a:rPr sz="3200" b="1">
                <a:solidFill>
                  <a:srgbClr val="F5F7FA"/>
                </a:solidFill>
                <a:latin typeface="Helvetica Neue"/>
              </a:rPr>
              <a:t>What I would productionize next</a:t>
            </a:r>
          </a:p>
        </p:txBody>
      </p:sp>
      <p:sp>
        <p:nvSpPr>
          <p:cNvPr id="4" name="Rounded Rectangle 3"/>
          <p:cNvSpPr/>
          <p:nvPr/>
        </p:nvSpPr>
        <p:spPr>
          <a:xfrm>
            <a:off x="548640" y="1737360"/>
            <a:ext cx="5486400" cy="196596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60" y="2029968"/>
            <a:ext cx="457200" cy="457200"/>
          </a:xfrm>
          <a:prstGeom prst="ellipse">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5F7FA"/>
                </a:solidFill>
                <a:latin typeface="Helvetica Neue"/>
              </a:rPr>
              <a:t>1</a:t>
            </a:r>
          </a:p>
        </p:txBody>
      </p:sp>
      <p:sp>
        <p:nvSpPr>
          <p:cNvPr id="6" name="TextBox 5"/>
          <p:cNvSpPr txBox="1"/>
          <p:nvPr/>
        </p:nvSpPr>
        <p:spPr>
          <a:xfrm>
            <a:off x="1463040" y="2048256"/>
            <a:ext cx="4297680" cy="457200"/>
          </a:xfrm>
          <a:prstGeom prst="rect">
            <a:avLst/>
          </a:prstGeom>
          <a:noFill/>
        </p:spPr>
        <p:txBody>
          <a:bodyPr wrap="square" anchor="t" lIns="0" rIns="0" tIns="0" bIns="0">
            <a:spAutoFit/>
          </a:bodyPr>
          <a:lstStyle/>
          <a:p>
            <a:pPr algn="l">
              <a:lnSpc>
                <a:spcPct val="100000"/>
              </a:lnSpc>
            </a:pPr>
            <a:r>
              <a:rPr sz="2100" b="1">
                <a:solidFill>
                  <a:srgbClr val="F5F7FA"/>
                </a:solidFill>
                <a:latin typeface="Helvetica Neue"/>
              </a:rPr>
              <a:t>Durable execution</a:t>
            </a:r>
          </a:p>
        </p:txBody>
      </p:sp>
      <p:sp>
        <p:nvSpPr>
          <p:cNvPr id="7" name="TextBox 6"/>
          <p:cNvSpPr txBox="1"/>
          <p:nvPr/>
        </p:nvSpPr>
        <p:spPr>
          <a:xfrm>
            <a:off x="868680" y="2651760"/>
            <a:ext cx="4846320" cy="914400"/>
          </a:xfrm>
          <a:prstGeom prst="rect">
            <a:avLst/>
          </a:prstGeom>
          <a:noFill/>
        </p:spPr>
        <p:txBody>
          <a:bodyPr wrap="square" anchor="t" lIns="0" rIns="0" tIns="0" bIns="0">
            <a:spAutoFit/>
          </a:bodyPr>
          <a:lstStyle/>
          <a:p>
            <a:pPr algn="l">
              <a:lnSpc>
                <a:spcPct val="115000"/>
              </a:lnSpc>
            </a:pPr>
            <a:r>
              <a:rPr sz="1550" b="0">
                <a:solidFill>
                  <a:srgbClr val="9AA4B5"/>
                </a:solidFill>
                <a:latin typeface="Helvetica Neue"/>
              </a:rPr>
              <a:t>Move synchronous workflow execution to Inngest with idempotency, retries, resume, and dead-letter handling.</a:t>
            </a:r>
          </a:p>
        </p:txBody>
      </p:sp>
      <p:sp>
        <p:nvSpPr>
          <p:cNvPr id="8" name="Rounded Rectangle 7"/>
          <p:cNvSpPr/>
          <p:nvPr/>
        </p:nvSpPr>
        <p:spPr>
          <a:xfrm>
            <a:off x="6263640" y="1737360"/>
            <a:ext cx="5486400" cy="196596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37960" y="2029968"/>
            <a:ext cx="457200" cy="457200"/>
          </a:xfrm>
          <a:prstGeom prst="ellipse">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5F7FA"/>
                </a:solidFill>
                <a:latin typeface="Helvetica Neue"/>
              </a:rPr>
              <a:t>2</a:t>
            </a:r>
          </a:p>
        </p:txBody>
      </p:sp>
      <p:sp>
        <p:nvSpPr>
          <p:cNvPr id="10" name="TextBox 9"/>
          <p:cNvSpPr txBox="1"/>
          <p:nvPr/>
        </p:nvSpPr>
        <p:spPr>
          <a:xfrm>
            <a:off x="7178040" y="2048256"/>
            <a:ext cx="4297680" cy="457200"/>
          </a:xfrm>
          <a:prstGeom prst="rect">
            <a:avLst/>
          </a:prstGeom>
          <a:noFill/>
        </p:spPr>
        <p:txBody>
          <a:bodyPr wrap="square" anchor="t" lIns="0" rIns="0" tIns="0" bIns="0">
            <a:spAutoFit/>
          </a:bodyPr>
          <a:lstStyle/>
          <a:p>
            <a:pPr algn="l">
              <a:lnSpc>
                <a:spcPct val="100000"/>
              </a:lnSpc>
            </a:pPr>
            <a:r>
              <a:rPr sz="2100" b="1">
                <a:solidFill>
                  <a:srgbClr val="F5F7FA"/>
                </a:solidFill>
                <a:latin typeface="Helvetica Neue"/>
              </a:rPr>
              <a:t>Persisted approvals</a:t>
            </a:r>
          </a:p>
        </p:txBody>
      </p:sp>
      <p:sp>
        <p:nvSpPr>
          <p:cNvPr id="11" name="TextBox 10"/>
          <p:cNvSpPr txBox="1"/>
          <p:nvPr/>
        </p:nvSpPr>
        <p:spPr>
          <a:xfrm>
            <a:off x="6583680" y="2651760"/>
            <a:ext cx="4846320" cy="914400"/>
          </a:xfrm>
          <a:prstGeom prst="rect">
            <a:avLst/>
          </a:prstGeom>
          <a:noFill/>
        </p:spPr>
        <p:txBody>
          <a:bodyPr wrap="square" anchor="t" lIns="0" rIns="0" tIns="0" bIns="0">
            <a:spAutoFit/>
          </a:bodyPr>
          <a:lstStyle/>
          <a:p>
            <a:pPr algn="l">
              <a:lnSpc>
                <a:spcPct val="115000"/>
              </a:lnSpc>
            </a:pPr>
            <a:r>
              <a:rPr sz="1550" b="0">
                <a:solidFill>
                  <a:srgbClr val="9AA4B5"/>
                </a:solidFill>
                <a:latin typeface="Helvetica Neue"/>
              </a:rPr>
              <a:t>Add explicit approval policies and state transitions from proposed through completed/failed.</a:t>
            </a:r>
          </a:p>
        </p:txBody>
      </p:sp>
      <p:sp>
        <p:nvSpPr>
          <p:cNvPr id="12" name="Rounded Rectangle 11"/>
          <p:cNvSpPr/>
          <p:nvPr/>
        </p:nvSpPr>
        <p:spPr>
          <a:xfrm>
            <a:off x="548640" y="3931920"/>
            <a:ext cx="5486400" cy="196596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4224528"/>
            <a:ext cx="457200" cy="457200"/>
          </a:xfrm>
          <a:prstGeom prst="ellipse">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5F7FA"/>
                </a:solidFill>
                <a:latin typeface="Helvetica Neue"/>
              </a:rPr>
              <a:t>3</a:t>
            </a:r>
          </a:p>
        </p:txBody>
      </p:sp>
      <p:sp>
        <p:nvSpPr>
          <p:cNvPr id="14" name="TextBox 13"/>
          <p:cNvSpPr txBox="1"/>
          <p:nvPr/>
        </p:nvSpPr>
        <p:spPr>
          <a:xfrm>
            <a:off x="1463040" y="4242816"/>
            <a:ext cx="4297680" cy="457200"/>
          </a:xfrm>
          <a:prstGeom prst="rect">
            <a:avLst/>
          </a:prstGeom>
          <a:noFill/>
        </p:spPr>
        <p:txBody>
          <a:bodyPr wrap="square" anchor="t" lIns="0" rIns="0" tIns="0" bIns="0">
            <a:spAutoFit/>
          </a:bodyPr>
          <a:lstStyle/>
          <a:p>
            <a:pPr algn="l">
              <a:lnSpc>
                <a:spcPct val="100000"/>
              </a:lnSpc>
            </a:pPr>
            <a:r>
              <a:rPr sz="2100" b="1">
                <a:solidFill>
                  <a:srgbClr val="F5F7FA"/>
                </a:solidFill>
                <a:latin typeface="Helvetica Neue"/>
              </a:rPr>
              <a:t>Evaluation expansion</a:t>
            </a:r>
          </a:p>
        </p:txBody>
      </p:sp>
      <p:sp>
        <p:nvSpPr>
          <p:cNvPr id="15" name="TextBox 14"/>
          <p:cNvSpPr txBox="1"/>
          <p:nvPr/>
        </p:nvSpPr>
        <p:spPr>
          <a:xfrm>
            <a:off x="868680" y="4846320"/>
            <a:ext cx="4846320" cy="914400"/>
          </a:xfrm>
          <a:prstGeom prst="rect">
            <a:avLst/>
          </a:prstGeom>
          <a:noFill/>
        </p:spPr>
        <p:txBody>
          <a:bodyPr wrap="square" anchor="t" lIns="0" rIns="0" tIns="0" bIns="0">
            <a:spAutoFit/>
          </a:bodyPr>
          <a:lstStyle/>
          <a:p>
            <a:pPr algn="l">
              <a:lnSpc>
                <a:spcPct val="115000"/>
              </a:lnSpc>
            </a:pPr>
            <a:r>
              <a:rPr sz="1550" b="0">
                <a:solidFill>
                  <a:srgbClr val="9AA4B5"/>
                </a:solidFill>
                <a:latin typeface="Helvetica Neue"/>
              </a:rPr>
              <a:t>Capture live predictions against a larger versioned, privacy-safe benchmark; add retrieval/citation evaluation.</a:t>
            </a:r>
          </a:p>
        </p:txBody>
      </p:sp>
      <p:sp>
        <p:nvSpPr>
          <p:cNvPr id="16" name="Rounded Rectangle 15"/>
          <p:cNvSpPr/>
          <p:nvPr/>
        </p:nvSpPr>
        <p:spPr>
          <a:xfrm>
            <a:off x="6263640" y="3931920"/>
            <a:ext cx="5486400" cy="196596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37960" y="4224528"/>
            <a:ext cx="457200" cy="457200"/>
          </a:xfrm>
          <a:prstGeom prst="ellipse">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5F7FA"/>
                </a:solidFill>
                <a:latin typeface="Helvetica Neue"/>
              </a:rPr>
              <a:t>4</a:t>
            </a:r>
          </a:p>
        </p:txBody>
      </p:sp>
      <p:sp>
        <p:nvSpPr>
          <p:cNvPr id="18" name="TextBox 17"/>
          <p:cNvSpPr txBox="1"/>
          <p:nvPr/>
        </p:nvSpPr>
        <p:spPr>
          <a:xfrm>
            <a:off x="7178040" y="4242816"/>
            <a:ext cx="4297680" cy="457200"/>
          </a:xfrm>
          <a:prstGeom prst="rect">
            <a:avLst/>
          </a:prstGeom>
          <a:noFill/>
        </p:spPr>
        <p:txBody>
          <a:bodyPr wrap="square" anchor="t" lIns="0" rIns="0" tIns="0" bIns="0">
            <a:spAutoFit/>
          </a:bodyPr>
          <a:lstStyle/>
          <a:p>
            <a:pPr algn="l">
              <a:lnSpc>
                <a:spcPct val="100000"/>
              </a:lnSpc>
            </a:pPr>
            <a:r>
              <a:rPr sz="2100" b="1">
                <a:solidFill>
                  <a:srgbClr val="F5F7FA"/>
                </a:solidFill>
                <a:latin typeface="Helvetica Neue"/>
              </a:rPr>
              <a:t>Observability + isolation</a:t>
            </a:r>
          </a:p>
        </p:txBody>
      </p:sp>
      <p:sp>
        <p:nvSpPr>
          <p:cNvPr id="19" name="TextBox 18"/>
          <p:cNvSpPr txBox="1"/>
          <p:nvPr/>
        </p:nvSpPr>
        <p:spPr>
          <a:xfrm>
            <a:off x="6583680" y="4846320"/>
            <a:ext cx="4846320" cy="914400"/>
          </a:xfrm>
          <a:prstGeom prst="rect">
            <a:avLst/>
          </a:prstGeom>
          <a:noFill/>
        </p:spPr>
        <p:txBody>
          <a:bodyPr wrap="square" anchor="t" lIns="0" rIns="0" tIns="0" bIns="0">
            <a:spAutoFit/>
          </a:bodyPr>
          <a:lstStyle/>
          <a:p>
            <a:pPr algn="l">
              <a:lnSpc>
                <a:spcPct val="115000"/>
              </a:lnSpc>
            </a:pPr>
            <a:r>
              <a:rPr sz="1550" b="0">
                <a:solidFill>
                  <a:srgbClr val="9AA4B5"/>
                </a:solidFill>
                <a:latin typeface="Helvetica Neue"/>
              </a:rPr>
              <a:t>Design safe Sentry/PostHog events and validate the NemoClaw/OpenShell path without logging document content.</a:t>
            </a:r>
          </a:p>
        </p:txBody>
      </p:sp>
      <p:sp>
        <p:nvSpPr>
          <p:cNvPr id="20" name="TextBox 19"/>
          <p:cNvSpPr txBox="1"/>
          <p:nvPr/>
        </p:nvSpPr>
        <p:spPr>
          <a:xfrm>
            <a:off x="548640" y="6172200"/>
            <a:ext cx="11064240" cy="320040"/>
          </a:xfrm>
          <a:prstGeom prst="rect">
            <a:avLst/>
          </a:prstGeom>
          <a:noFill/>
        </p:spPr>
        <p:txBody>
          <a:bodyPr wrap="square" anchor="t" lIns="0" rIns="0" tIns="0" bIns="0">
            <a:spAutoFit/>
          </a:bodyPr>
          <a:lstStyle/>
          <a:p>
            <a:pPr algn="l">
              <a:lnSpc>
                <a:spcPct val="100000"/>
              </a:lnSpc>
            </a:pPr>
            <a:r>
              <a:rPr sz="1300" b="0">
                <a:solidFill>
                  <a:srgbClr val="9AA4B5"/>
                </a:solidFill>
                <a:latin typeface="Helvetica Neue"/>
              </a:rPr>
              <a:t>Roadmap items — designed and documented, deliberately not claimed as complete.</a:t>
            </a:r>
          </a:p>
        </p:txBody>
      </p:sp>
      <p:sp>
        <p:nvSpPr>
          <p:cNvPr id="21" name="TextBox 20"/>
          <p:cNvSpPr txBox="1"/>
          <p:nvPr/>
        </p:nvSpPr>
        <p:spPr>
          <a:xfrm>
            <a:off x="11658600" y="6473952"/>
            <a:ext cx="411480" cy="274320"/>
          </a:xfrm>
          <a:prstGeom prst="rect">
            <a:avLst/>
          </a:prstGeom>
          <a:noFill/>
        </p:spPr>
        <p:txBody>
          <a:bodyPr wrap="square" anchor="t" lIns="0" rIns="0" tIns="0" bIns="0">
            <a:spAutoFit/>
          </a:bodyPr>
          <a:lstStyle/>
          <a:p>
            <a:pPr algn="r">
              <a:lnSpc>
                <a:spcPct val="100000"/>
              </a:lnSpc>
            </a:pPr>
            <a:r>
              <a:rPr sz="1200" b="0">
                <a:solidFill>
                  <a:srgbClr val="9AA4B5"/>
                </a:solidFill>
                <a:latin typeface="Helvetica Neue"/>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Rectangle 1"/>
          <p:cNvSpPr/>
          <p:nvPr/>
        </p:nvSpPr>
        <p:spPr>
          <a:xfrm>
            <a:off x="0" y="0"/>
            <a:ext cx="82296" cy="6858000"/>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315200" cy="274320"/>
          </a:xfrm>
          <a:prstGeom prst="rect">
            <a:avLst/>
          </a:prstGeom>
          <a:noFill/>
        </p:spPr>
        <p:txBody>
          <a:bodyPr wrap="square" anchor="t" lIns="0" rIns="0" tIns="0" bIns="0">
            <a:spAutoFit/>
          </a:bodyPr>
          <a:lstStyle/>
          <a:p>
            <a:pPr algn="l">
              <a:lnSpc>
                <a:spcPct val="100000"/>
              </a:lnSpc>
            </a:pPr>
            <a:r>
              <a:rPr sz="1300" b="1">
                <a:solidFill>
                  <a:srgbClr val="5B8DEF"/>
                </a:solidFill>
                <a:latin typeface="Helvetica Neue"/>
              </a:rPr>
              <a:t>RECRUITER CLOSE</a:t>
            </a:r>
          </a:p>
        </p:txBody>
      </p:sp>
      <p:sp>
        <p:nvSpPr>
          <p:cNvPr id="4" name="TextBox 3"/>
          <p:cNvSpPr txBox="1"/>
          <p:nvPr/>
        </p:nvSpPr>
        <p:spPr>
          <a:xfrm>
            <a:off x="548640" y="685800"/>
            <a:ext cx="11064240" cy="777240"/>
          </a:xfrm>
          <a:prstGeom prst="rect">
            <a:avLst/>
          </a:prstGeom>
          <a:noFill/>
        </p:spPr>
        <p:txBody>
          <a:bodyPr wrap="square" anchor="t" lIns="0" rIns="0" tIns="0" bIns="0">
            <a:spAutoFit/>
          </a:bodyPr>
          <a:lstStyle/>
          <a:p>
            <a:pPr algn="l">
              <a:lnSpc>
                <a:spcPct val="100000"/>
              </a:lnSpc>
            </a:pPr>
            <a:r>
              <a:rPr sz="3200" b="1">
                <a:solidFill>
                  <a:srgbClr val="F5F7FA"/>
                </a:solidFill>
                <a:latin typeface="Helvetica Neue"/>
              </a:rPr>
              <a:t>What Paperline demonstrates</a:t>
            </a:r>
          </a:p>
        </p:txBody>
      </p:sp>
      <p:sp>
        <p:nvSpPr>
          <p:cNvPr id="5" name="Oval 4"/>
          <p:cNvSpPr/>
          <p:nvPr/>
        </p:nvSpPr>
        <p:spPr>
          <a:xfrm>
            <a:off x="731520" y="1837944"/>
            <a:ext cx="274320" cy="274320"/>
          </a:xfrm>
          <a:prstGeom prst="ellipse">
            <a:avLst/>
          </a:prstGeom>
          <a:solidFill>
            <a:srgbClr val="3DC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0B0D12"/>
                </a:solidFill>
                <a:latin typeface="Helvetica Neue"/>
              </a:rPr>
              <a:t>✓</a:t>
            </a:r>
          </a:p>
        </p:txBody>
      </p:sp>
      <p:sp>
        <p:nvSpPr>
          <p:cNvPr id="6" name="TextBox 5"/>
          <p:cNvSpPr txBox="1"/>
          <p:nvPr/>
        </p:nvSpPr>
        <p:spPr>
          <a:xfrm>
            <a:off x="1234440" y="1783080"/>
            <a:ext cx="5669280" cy="411480"/>
          </a:xfrm>
          <a:prstGeom prst="rect">
            <a:avLst/>
          </a:prstGeom>
          <a:noFill/>
        </p:spPr>
        <p:txBody>
          <a:bodyPr wrap="square" anchor="t" lIns="0" rIns="0" tIns="0" bIns="0">
            <a:spAutoFit/>
          </a:bodyPr>
          <a:lstStyle/>
          <a:p>
            <a:pPr algn="l">
              <a:lnSpc>
                <a:spcPct val="100000"/>
              </a:lnSpc>
            </a:pPr>
            <a:r>
              <a:rPr sz="2000" b="0">
                <a:solidFill>
                  <a:srgbClr val="F5F7FA"/>
                </a:solidFill>
                <a:latin typeface="Helvetica Neue"/>
              </a:rPr>
              <a:t>Full-stack AI product engineering</a:t>
            </a:r>
          </a:p>
        </p:txBody>
      </p:sp>
      <p:sp>
        <p:nvSpPr>
          <p:cNvPr id="7" name="Oval 6"/>
          <p:cNvSpPr/>
          <p:nvPr/>
        </p:nvSpPr>
        <p:spPr>
          <a:xfrm>
            <a:off x="731520" y="2496312"/>
            <a:ext cx="274320" cy="274320"/>
          </a:xfrm>
          <a:prstGeom prst="ellipse">
            <a:avLst/>
          </a:prstGeom>
          <a:solidFill>
            <a:srgbClr val="3DC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0B0D12"/>
                </a:solidFill>
                <a:latin typeface="Helvetica Neue"/>
              </a:rPr>
              <a:t>✓</a:t>
            </a:r>
          </a:p>
        </p:txBody>
      </p:sp>
      <p:sp>
        <p:nvSpPr>
          <p:cNvPr id="8" name="TextBox 7"/>
          <p:cNvSpPr txBox="1"/>
          <p:nvPr/>
        </p:nvSpPr>
        <p:spPr>
          <a:xfrm>
            <a:off x="1234440" y="2441448"/>
            <a:ext cx="5669280" cy="411480"/>
          </a:xfrm>
          <a:prstGeom prst="rect">
            <a:avLst/>
          </a:prstGeom>
          <a:noFill/>
        </p:spPr>
        <p:txBody>
          <a:bodyPr wrap="square" anchor="t" lIns="0" rIns="0" tIns="0" bIns="0">
            <a:spAutoFit/>
          </a:bodyPr>
          <a:lstStyle/>
          <a:p>
            <a:pPr algn="l">
              <a:lnSpc>
                <a:spcPct val="100000"/>
              </a:lnSpc>
            </a:pPr>
            <a:r>
              <a:rPr sz="2000" b="0">
                <a:solidFill>
                  <a:srgbClr val="F5F7FA"/>
                </a:solidFill>
                <a:latin typeface="Helvetica Neue"/>
              </a:rPr>
              <a:t>Cited retrieval and schema-guided extraction</a:t>
            </a:r>
          </a:p>
        </p:txBody>
      </p:sp>
      <p:sp>
        <p:nvSpPr>
          <p:cNvPr id="9" name="Oval 8"/>
          <p:cNvSpPr/>
          <p:nvPr/>
        </p:nvSpPr>
        <p:spPr>
          <a:xfrm>
            <a:off x="731520" y="3154680"/>
            <a:ext cx="274320" cy="274320"/>
          </a:xfrm>
          <a:prstGeom prst="ellipse">
            <a:avLst/>
          </a:prstGeom>
          <a:solidFill>
            <a:srgbClr val="3DC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0B0D12"/>
                </a:solidFill>
                <a:latin typeface="Helvetica Neue"/>
              </a:rPr>
              <a:t>✓</a:t>
            </a:r>
          </a:p>
        </p:txBody>
      </p:sp>
      <p:sp>
        <p:nvSpPr>
          <p:cNvPr id="10" name="TextBox 9"/>
          <p:cNvSpPr txBox="1"/>
          <p:nvPr/>
        </p:nvSpPr>
        <p:spPr>
          <a:xfrm>
            <a:off x="1234440" y="3099816"/>
            <a:ext cx="5669280" cy="411480"/>
          </a:xfrm>
          <a:prstGeom prst="rect">
            <a:avLst/>
          </a:prstGeom>
          <a:noFill/>
        </p:spPr>
        <p:txBody>
          <a:bodyPr wrap="square" anchor="t" lIns="0" rIns="0" tIns="0" bIns="0">
            <a:spAutoFit/>
          </a:bodyPr>
          <a:lstStyle/>
          <a:p>
            <a:pPr algn="l">
              <a:lnSpc>
                <a:spcPct val="100000"/>
              </a:lnSpc>
            </a:pPr>
            <a:r>
              <a:rPr sz="2000" b="0">
                <a:solidFill>
                  <a:srgbClr val="F5F7FA"/>
                </a:solidFill>
                <a:latin typeface="Helvetica Neue"/>
              </a:rPr>
              <a:t>Multi-tenant auth/data-boundary thinking</a:t>
            </a:r>
          </a:p>
        </p:txBody>
      </p:sp>
      <p:sp>
        <p:nvSpPr>
          <p:cNvPr id="11" name="Oval 10"/>
          <p:cNvSpPr/>
          <p:nvPr/>
        </p:nvSpPr>
        <p:spPr>
          <a:xfrm>
            <a:off x="731520" y="3813048"/>
            <a:ext cx="274320" cy="274320"/>
          </a:xfrm>
          <a:prstGeom prst="ellipse">
            <a:avLst/>
          </a:prstGeom>
          <a:solidFill>
            <a:srgbClr val="3DC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0B0D12"/>
                </a:solidFill>
                <a:latin typeface="Helvetica Neue"/>
              </a:rPr>
              <a:t>✓</a:t>
            </a:r>
          </a:p>
        </p:txBody>
      </p:sp>
      <p:sp>
        <p:nvSpPr>
          <p:cNvPr id="12" name="TextBox 11"/>
          <p:cNvSpPr txBox="1"/>
          <p:nvPr/>
        </p:nvSpPr>
        <p:spPr>
          <a:xfrm>
            <a:off x="1234440" y="3758184"/>
            <a:ext cx="5669280" cy="411480"/>
          </a:xfrm>
          <a:prstGeom prst="rect">
            <a:avLst/>
          </a:prstGeom>
          <a:noFill/>
        </p:spPr>
        <p:txBody>
          <a:bodyPr wrap="square" anchor="t" lIns="0" rIns="0" tIns="0" bIns="0">
            <a:spAutoFit/>
          </a:bodyPr>
          <a:lstStyle/>
          <a:p>
            <a:pPr algn="l">
              <a:lnSpc>
                <a:spcPct val="100000"/>
              </a:lnSpc>
            </a:pPr>
            <a:r>
              <a:rPr sz="2000" b="0">
                <a:solidFill>
                  <a:srgbClr val="F5F7FA"/>
                </a:solidFill>
                <a:latin typeface="Helvetica Neue"/>
              </a:rPr>
              <a:t>Human-in-the-loop agent design</a:t>
            </a:r>
          </a:p>
        </p:txBody>
      </p:sp>
      <p:sp>
        <p:nvSpPr>
          <p:cNvPr id="13" name="Oval 12"/>
          <p:cNvSpPr/>
          <p:nvPr/>
        </p:nvSpPr>
        <p:spPr>
          <a:xfrm>
            <a:off x="731520" y="4471416"/>
            <a:ext cx="274320" cy="274320"/>
          </a:xfrm>
          <a:prstGeom prst="ellipse">
            <a:avLst/>
          </a:prstGeom>
          <a:solidFill>
            <a:srgbClr val="3DC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0B0D12"/>
                </a:solidFill>
                <a:latin typeface="Helvetica Neue"/>
              </a:rPr>
              <a:t>✓</a:t>
            </a:r>
          </a:p>
        </p:txBody>
      </p:sp>
      <p:sp>
        <p:nvSpPr>
          <p:cNvPr id="14" name="TextBox 13"/>
          <p:cNvSpPr txBox="1"/>
          <p:nvPr/>
        </p:nvSpPr>
        <p:spPr>
          <a:xfrm>
            <a:off x="1234440" y="4416552"/>
            <a:ext cx="5669280" cy="411480"/>
          </a:xfrm>
          <a:prstGeom prst="rect">
            <a:avLst/>
          </a:prstGeom>
          <a:noFill/>
        </p:spPr>
        <p:txBody>
          <a:bodyPr wrap="square" anchor="t" lIns="0" rIns="0" tIns="0" bIns="0">
            <a:spAutoFit/>
          </a:bodyPr>
          <a:lstStyle/>
          <a:p>
            <a:pPr algn="l">
              <a:lnSpc>
                <a:spcPct val="100000"/>
              </a:lnSpc>
            </a:pPr>
            <a:r>
              <a:rPr sz="2000" b="0">
                <a:solidFill>
                  <a:srgbClr val="F5F7FA"/>
                </a:solidFill>
                <a:latin typeface="Helvetica Neue"/>
              </a:rPr>
              <a:t>Evaluation, billing, and productionization judgment</a:t>
            </a:r>
          </a:p>
        </p:txBody>
      </p:sp>
      <p:sp>
        <p:nvSpPr>
          <p:cNvPr id="15" name="TextBox 14"/>
          <p:cNvSpPr txBox="1"/>
          <p:nvPr/>
        </p:nvSpPr>
        <p:spPr>
          <a:xfrm>
            <a:off x="731520" y="5394960"/>
            <a:ext cx="5943600" cy="411480"/>
          </a:xfrm>
          <a:prstGeom prst="rect">
            <a:avLst/>
          </a:prstGeom>
          <a:noFill/>
        </p:spPr>
        <p:txBody>
          <a:bodyPr wrap="square" anchor="t" lIns="0" rIns="0" tIns="0" bIns="0">
            <a:spAutoFit/>
          </a:bodyPr>
          <a:lstStyle/>
          <a:p>
            <a:pPr algn="l">
              <a:lnSpc>
                <a:spcPct val="100000"/>
              </a:lnSpc>
            </a:pPr>
            <a:r>
              <a:rPr sz="1800" b="1">
                <a:solidFill>
                  <a:srgbClr val="F5F7FA"/>
                </a:solidFill>
                <a:latin typeface="Helvetica Neue"/>
              </a:rPr>
              <a:t>Harrison Olvera · Applied AI / Agentic AI / LLM Engineering</a:t>
            </a:r>
          </a:p>
        </p:txBody>
      </p:sp>
      <p:sp>
        <p:nvSpPr>
          <p:cNvPr id="16" name="Rounded Rectangle 15"/>
          <p:cNvSpPr/>
          <p:nvPr/>
        </p:nvSpPr>
        <p:spPr>
          <a:xfrm>
            <a:off x="6949440" y="1783080"/>
            <a:ext cx="4663440" cy="2331720"/>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69480" y="2011680"/>
            <a:ext cx="4023360" cy="320040"/>
          </a:xfrm>
          <a:prstGeom prst="rect">
            <a:avLst/>
          </a:prstGeom>
          <a:noFill/>
        </p:spPr>
        <p:txBody>
          <a:bodyPr wrap="square" anchor="t" lIns="0" rIns="0" tIns="0" bIns="0">
            <a:spAutoFit/>
          </a:bodyPr>
          <a:lstStyle/>
          <a:p>
            <a:pPr algn="l">
              <a:lnSpc>
                <a:spcPct val="100000"/>
              </a:lnSpc>
            </a:pPr>
            <a:r>
              <a:rPr sz="1400" b="1">
                <a:solidFill>
                  <a:srgbClr val="5B8DEF"/>
                </a:solidFill>
                <a:latin typeface="Helvetica Neue"/>
              </a:rPr>
              <a:t>SEE IT YOURSELF</a:t>
            </a:r>
          </a:p>
        </p:txBody>
      </p:sp>
      <p:sp>
        <p:nvSpPr>
          <p:cNvPr id="18" name="TextBox 17"/>
          <p:cNvSpPr txBox="1"/>
          <p:nvPr/>
        </p:nvSpPr>
        <p:spPr>
          <a:xfrm>
            <a:off x="7269480" y="2468880"/>
            <a:ext cx="4114800" cy="320040"/>
          </a:xfrm>
          <a:prstGeom prst="rect">
            <a:avLst/>
          </a:prstGeom>
          <a:noFill/>
        </p:spPr>
        <p:txBody>
          <a:bodyPr wrap="square" anchor="t" lIns="0" rIns="0" tIns="0" bIns="0">
            <a:spAutoFit/>
          </a:bodyPr>
          <a:lstStyle/>
          <a:p>
            <a:pPr algn="l">
              <a:lnSpc>
                <a:spcPct val="100000"/>
              </a:lnSpc>
            </a:pPr>
            <a:r>
              <a:rPr sz="1600" b="1">
                <a:solidFill>
                  <a:srgbClr val="F5F7FA"/>
                </a:solidFill>
                <a:latin typeface="Helvetica Neue"/>
              </a:rPr>
              <a:t>Live Ops Agent</a:t>
            </a:r>
          </a:p>
        </p:txBody>
      </p:sp>
      <p:sp>
        <p:nvSpPr>
          <p:cNvPr id="19" name="TextBox 18"/>
          <p:cNvSpPr txBox="1"/>
          <p:nvPr/>
        </p:nvSpPr>
        <p:spPr>
          <a:xfrm>
            <a:off x="7269480" y="2779776"/>
            <a:ext cx="4114800" cy="292608"/>
          </a:xfrm>
          <a:prstGeom prst="rect">
            <a:avLst/>
          </a:prstGeom>
          <a:noFill/>
        </p:spPr>
        <p:txBody>
          <a:bodyPr wrap="square" anchor="t" lIns="0" rIns="0" tIns="0" bIns="0">
            <a:spAutoFit/>
          </a:bodyPr>
          <a:lstStyle/>
          <a:p>
            <a:pPr algn="l">
              <a:lnSpc>
                <a:spcPct val="100000"/>
              </a:lnSpc>
            </a:pPr>
            <a:r>
              <a:rPr sz="1300" b="0">
                <a:solidFill>
                  <a:srgbClr val="8AB4F8"/>
                </a:solidFill>
                <a:latin typeface="Helvetica Neue"/>
                <a:hlinkClick r:id="rId2"/>
              </a:rPr>
              <a:t>paperline-xi.vercel.app/ops-agent</a:t>
            </a:r>
          </a:p>
        </p:txBody>
      </p:sp>
      <p:sp>
        <p:nvSpPr>
          <p:cNvPr id="20" name="TextBox 19"/>
          <p:cNvSpPr txBox="1"/>
          <p:nvPr/>
        </p:nvSpPr>
        <p:spPr>
          <a:xfrm>
            <a:off x="7269480" y="3273552"/>
            <a:ext cx="4114800" cy="320040"/>
          </a:xfrm>
          <a:prstGeom prst="rect">
            <a:avLst/>
          </a:prstGeom>
          <a:noFill/>
        </p:spPr>
        <p:txBody>
          <a:bodyPr wrap="square" anchor="t" lIns="0" rIns="0" tIns="0" bIns="0">
            <a:spAutoFit/>
          </a:bodyPr>
          <a:lstStyle/>
          <a:p>
            <a:pPr algn="l">
              <a:lnSpc>
                <a:spcPct val="100000"/>
              </a:lnSpc>
            </a:pPr>
            <a:r>
              <a:rPr sz="1600" b="1">
                <a:solidFill>
                  <a:srgbClr val="F5F7FA"/>
                </a:solidFill>
                <a:latin typeface="Helvetica Neue"/>
              </a:rPr>
              <a:t>GitHub</a:t>
            </a:r>
          </a:p>
        </p:txBody>
      </p:sp>
      <p:sp>
        <p:nvSpPr>
          <p:cNvPr id="21" name="TextBox 20"/>
          <p:cNvSpPr txBox="1"/>
          <p:nvPr/>
        </p:nvSpPr>
        <p:spPr>
          <a:xfrm>
            <a:off x="7269480" y="3584448"/>
            <a:ext cx="4114800" cy="292608"/>
          </a:xfrm>
          <a:prstGeom prst="rect">
            <a:avLst/>
          </a:prstGeom>
          <a:noFill/>
        </p:spPr>
        <p:txBody>
          <a:bodyPr wrap="square" anchor="t" lIns="0" rIns="0" tIns="0" bIns="0">
            <a:spAutoFit/>
          </a:bodyPr>
          <a:lstStyle/>
          <a:p>
            <a:pPr algn="l">
              <a:lnSpc>
                <a:spcPct val="100000"/>
              </a:lnSpc>
            </a:pPr>
            <a:r>
              <a:rPr sz="1300" b="0">
                <a:solidFill>
                  <a:srgbClr val="8AB4F8"/>
                </a:solidFill>
                <a:latin typeface="Helvetica Neue"/>
                <a:hlinkClick r:id="rId3"/>
              </a:rPr>
              <a:t>github.com/HarrisonBlake01/paperline</a:t>
            </a:r>
          </a:p>
        </p:txBody>
      </p:sp>
      <p:sp>
        <p:nvSpPr>
          <p:cNvPr id="22" name="TextBox 21"/>
          <p:cNvSpPr txBox="1"/>
          <p:nvPr/>
        </p:nvSpPr>
        <p:spPr>
          <a:xfrm>
            <a:off x="731520" y="6217920"/>
            <a:ext cx="10881360" cy="320040"/>
          </a:xfrm>
          <a:prstGeom prst="rect">
            <a:avLst/>
          </a:prstGeom>
          <a:noFill/>
        </p:spPr>
        <p:txBody>
          <a:bodyPr wrap="square" anchor="t" lIns="0" rIns="0" tIns="0" bIns="0">
            <a:spAutoFit/>
          </a:bodyPr>
          <a:lstStyle/>
          <a:p>
            <a:pPr algn="l">
              <a:lnSpc>
                <a:spcPct val="100000"/>
              </a:lnSpc>
            </a:pPr>
            <a:r>
              <a:rPr sz="1300" b="0">
                <a:solidFill>
                  <a:srgbClr val="9AA4B5"/>
                </a:solidFill>
                <a:latin typeface="Helvetica Neue"/>
              </a:rPr>
              <a:t>All demo data synthetic · Stripe test mode · no customer, revenue, or compliance claims</a:t>
            </a:r>
          </a:p>
        </p:txBody>
      </p:sp>
      <p:sp>
        <p:nvSpPr>
          <p:cNvPr id="23" name="TextBox 22"/>
          <p:cNvSpPr txBox="1"/>
          <p:nvPr/>
        </p:nvSpPr>
        <p:spPr>
          <a:xfrm>
            <a:off x="11658600" y="6473952"/>
            <a:ext cx="411480" cy="274320"/>
          </a:xfrm>
          <a:prstGeom prst="rect">
            <a:avLst/>
          </a:prstGeom>
          <a:noFill/>
        </p:spPr>
        <p:txBody>
          <a:bodyPr wrap="square" anchor="t" lIns="0" rIns="0" tIns="0" bIns="0">
            <a:spAutoFit/>
          </a:bodyPr>
          <a:lstStyle/>
          <a:p>
            <a:pPr algn="r">
              <a:lnSpc>
                <a:spcPct val="100000"/>
              </a:lnSpc>
            </a:pPr>
            <a:r>
              <a:rPr sz="1200" b="0">
                <a:solidFill>
                  <a:srgbClr val="9AA4B5"/>
                </a:solidFill>
                <a:latin typeface="Helvetica Neue"/>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548640" y="384048"/>
            <a:ext cx="7315200" cy="274320"/>
          </a:xfrm>
          <a:prstGeom prst="rect">
            <a:avLst/>
          </a:prstGeom>
          <a:noFill/>
        </p:spPr>
        <p:txBody>
          <a:bodyPr wrap="square" anchor="t" lIns="0" rIns="0" tIns="0" bIns="0">
            <a:spAutoFit/>
          </a:bodyPr>
          <a:lstStyle/>
          <a:p>
            <a:pPr algn="l">
              <a:lnSpc>
                <a:spcPct val="100000"/>
              </a:lnSpc>
            </a:pPr>
            <a:r>
              <a:rPr sz="1300" b="1">
                <a:solidFill>
                  <a:srgbClr val="9AA4B5"/>
                </a:solidFill>
                <a:latin typeface="Helvetica Neue"/>
              </a:rPr>
              <a:t>APPENDIX</a:t>
            </a:r>
          </a:p>
        </p:txBody>
      </p:sp>
      <p:sp>
        <p:nvSpPr>
          <p:cNvPr id="3" name="TextBox 2"/>
          <p:cNvSpPr txBox="1"/>
          <p:nvPr/>
        </p:nvSpPr>
        <p:spPr>
          <a:xfrm>
            <a:off x="548640" y="658368"/>
            <a:ext cx="11064240" cy="777240"/>
          </a:xfrm>
          <a:prstGeom prst="rect">
            <a:avLst/>
          </a:prstGeom>
          <a:noFill/>
        </p:spPr>
        <p:txBody>
          <a:bodyPr wrap="square" anchor="t" lIns="0" rIns="0" tIns="0" bIns="0">
            <a:spAutoFit/>
          </a:bodyPr>
          <a:lstStyle/>
          <a:p>
            <a:pPr algn="l">
              <a:lnSpc>
                <a:spcPct val="100000"/>
              </a:lnSpc>
            </a:pPr>
            <a:r>
              <a:rPr sz="3200" b="1">
                <a:solidFill>
                  <a:srgbClr val="F5F7FA"/>
                </a:solidFill>
                <a:latin typeface="Helvetica Neue"/>
              </a:rPr>
              <a:t>Claims, sources, and boundaries</a:t>
            </a:r>
          </a:p>
        </p:txBody>
      </p:sp>
      <p:sp>
        <p:nvSpPr>
          <p:cNvPr id="4" name="Rounded Rectangle 3"/>
          <p:cNvSpPr/>
          <p:nvPr/>
        </p:nvSpPr>
        <p:spPr>
          <a:xfrm>
            <a:off x="548640" y="1554480"/>
            <a:ext cx="11091672" cy="859536"/>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54864" cy="859536"/>
          </a:xfrm>
          <a:prstGeom prst="rect">
            <a:avLst/>
          </a:prstGeom>
          <a:solidFill>
            <a:srgbClr val="3DC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2514600" cy="685800"/>
          </a:xfrm>
          <a:prstGeom prst="rect">
            <a:avLst/>
          </a:prstGeom>
          <a:noFill/>
        </p:spPr>
        <p:txBody>
          <a:bodyPr wrap="square" anchor="t" lIns="0" rIns="0" tIns="0" bIns="0">
            <a:spAutoFit/>
          </a:bodyPr>
          <a:lstStyle/>
          <a:p>
            <a:pPr algn="l">
              <a:lnSpc>
                <a:spcPct val="100000"/>
              </a:lnSpc>
            </a:pPr>
            <a:r>
              <a:rPr sz="1500" b="1">
                <a:solidFill>
                  <a:srgbClr val="3DC98E"/>
                </a:solidFill>
                <a:latin typeface="Helvetica Neue"/>
              </a:rPr>
              <a:t>Implemented repository paths</a:t>
            </a:r>
          </a:p>
        </p:txBody>
      </p:sp>
      <p:sp>
        <p:nvSpPr>
          <p:cNvPr id="7" name="TextBox 6"/>
          <p:cNvSpPr txBox="1"/>
          <p:nvPr/>
        </p:nvSpPr>
        <p:spPr>
          <a:xfrm>
            <a:off x="3474720" y="1636776"/>
            <a:ext cx="8001000" cy="731520"/>
          </a:xfrm>
          <a:prstGeom prst="rect">
            <a:avLst/>
          </a:prstGeom>
          <a:noFill/>
        </p:spPr>
        <p:txBody>
          <a:bodyPr wrap="square" anchor="t" lIns="0" rIns="0" tIns="0" bIns="0">
            <a:spAutoFit/>
          </a:bodyPr>
          <a:lstStyle/>
          <a:p>
            <a:pPr algn="l">
              <a:lnSpc>
                <a:spcPct val="103000"/>
              </a:lnSpc>
            </a:pPr>
            <a:r>
              <a:rPr sz="1150" b="0">
                <a:solidFill>
                  <a:srgbClr val="9AA4B5"/>
                </a:solidFill>
                <a:latin typeface="Helvetica Neue"/>
              </a:rPr>
              <a:t>src/lib/pipeline · src/lib/parsing · src/lib/ai/{ocr,extract,chat} · src/lib/auth/workspace.ts · src/app/api/workflows · src/app/api/billing/{checkout,portal} · src/app/api/webhooks/stripe · supabase/migrations/0001_init.sql, 0002_rls.sql</a:t>
            </a:r>
          </a:p>
        </p:txBody>
      </p:sp>
      <p:sp>
        <p:nvSpPr>
          <p:cNvPr id="8" name="Rounded Rectangle 7"/>
          <p:cNvSpPr/>
          <p:nvPr/>
        </p:nvSpPr>
        <p:spPr>
          <a:xfrm>
            <a:off x="548640" y="2523744"/>
            <a:ext cx="11091672" cy="859536"/>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23744"/>
            <a:ext cx="54864" cy="859536"/>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15184"/>
            <a:ext cx="2514600" cy="685800"/>
          </a:xfrm>
          <a:prstGeom prst="rect">
            <a:avLst/>
          </a:prstGeom>
          <a:noFill/>
        </p:spPr>
        <p:txBody>
          <a:bodyPr wrap="square" anchor="t" lIns="0" rIns="0" tIns="0" bIns="0">
            <a:spAutoFit/>
          </a:bodyPr>
          <a:lstStyle/>
          <a:p>
            <a:pPr algn="l">
              <a:lnSpc>
                <a:spcPct val="100000"/>
              </a:lnSpc>
            </a:pPr>
            <a:r>
              <a:rPr sz="1500" b="1">
                <a:solidFill>
                  <a:srgbClr val="F0B429"/>
                </a:solidFill>
                <a:latin typeface="Helvetica Neue"/>
              </a:rPr>
              <a:t>Synthetic demo boundary</a:t>
            </a:r>
          </a:p>
        </p:txBody>
      </p:sp>
      <p:sp>
        <p:nvSpPr>
          <p:cNvPr id="11" name="TextBox 10"/>
          <p:cNvSpPr txBox="1"/>
          <p:nvPr/>
        </p:nvSpPr>
        <p:spPr>
          <a:xfrm>
            <a:off x="3474720" y="2606040"/>
            <a:ext cx="8001000" cy="731520"/>
          </a:xfrm>
          <a:prstGeom prst="rect">
            <a:avLst/>
          </a:prstGeom>
          <a:noFill/>
        </p:spPr>
        <p:txBody>
          <a:bodyPr wrap="square" anchor="t" lIns="0" rIns="0" tIns="0" bIns="0">
            <a:spAutoFit/>
          </a:bodyPr>
          <a:lstStyle/>
          <a:p>
            <a:pPr algn="l">
              <a:lnSpc>
                <a:spcPct val="103000"/>
              </a:lnSpc>
            </a:pPr>
            <a:r>
              <a:rPr sz="1150" b="0">
                <a:solidFill>
                  <a:srgbClr val="9AA4B5"/>
                </a:solidFill>
                <a:latin typeface="Helvetica Neue"/>
              </a:rPr>
              <a:t>Ops Agent route uses static fixtures from src/lib/ops-agent-demo.ts: Northstar Supply Co., document names, values, confidence labels, action states, operator trace, and the $6.00 / 20-page Stripe test-mode preview. No live extraction, payment, or external action.</a:t>
            </a:r>
          </a:p>
        </p:txBody>
      </p:sp>
      <p:sp>
        <p:nvSpPr>
          <p:cNvPr id="12" name="Rounded Rectangle 11"/>
          <p:cNvSpPr/>
          <p:nvPr/>
        </p:nvSpPr>
        <p:spPr>
          <a:xfrm>
            <a:off x="548640" y="3493008"/>
            <a:ext cx="11091672" cy="859536"/>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493008"/>
            <a:ext cx="54864" cy="859536"/>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584448"/>
            <a:ext cx="2514600" cy="685800"/>
          </a:xfrm>
          <a:prstGeom prst="rect">
            <a:avLst/>
          </a:prstGeom>
          <a:noFill/>
        </p:spPr>
        <p:txBody>
          <a:bodyPr wrap="square" anchor="t" lIns="0" rIns="0" tIns="0" bIns="0">
            <a:spAutoFit/>
          </a:bodyPr>
          <a:lstStyle/>
          <a:p>
            <a:pPr algn="l">
              <a:lnSpc>
                <a:spcPct val="100000"/>
              </a:lnSpc>
            </a:pPr>
            <a:r>
              <a:rPr sz="1500" b="1">
                <a:solidFill>
                  <a:srgbClr val="F0B429"/>
                </a:solidFill>
                <a:latin typeface="Helvetica Neue"/>
              </a:rPr>
              <a:t>Evaluation caveat</a:t>
            </a:r>
          </a:p>
        </p:txBody>
      </p:sp>
      <p:sp>
        <p:nvSpPr>
          <p:cNvPr id="15" name="TextBox 14"/>
          <p:cNvSpPr txBox="1"/>
          <p:nvPr/>
        </p:nvSpPr>
        <p:spPr>
          <a:xfrm>
            <a:off x="3474720" y="3575304"/>
            <a:ext cx="8001000" cy="731520"/>
          </a:xfrm>
          <a:prstGeom prst="rect">
            <a:avLst/>
          </a:prstGeom>
          <a:noFill/>
        </p:spPr>
        <p:txBody>
          <a:bodyPr wrap="square" anchor="t" lIns="0" rIns="0" tIns="0" bIns="0">
            <a:spAutoFit/>
          </a:bodyPr>
          <a:lstStyle/>
          <a:p>
            <a:pPr algn="l">
              <a:lnSpc>
                <a:spcPct val="103000"/>
              </a:lnSpc>
            </a:pPr>
            <a:r>
              <a:rPr sz="1150" b="0">
                <a:solidFill>
                  <a:srgbClr val="9AA4B5"/>
                </a:solidFill>
                <a:latin typeface="Helvetica Neue"/>
              </a:rPr>
              <a:t>Metrics are a deliberately imperfect sample-prediction baseline validating the deterministic scorer (3 cases, 20 fields). Not production, live-model, or customer accuracy.</a:t>
            </a:r>
          </a:p>
        </p:txBody>
      </p:sp>
      <p:sp>
        <p:nvSpPr>
          <p:cNvPr id="16" name="Rounded Rectangle 15"/>
          <p:cNvSpPr/>
          <p:nvPr/>
        </p:nvSpPr>
        <p:spPr>
          <a:xfrm>
            <a:off x="548640" y="4462272"/>
            <a:ext cx="11091672" cy="859536"/>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462272"/>
            <a:ext cx="54864" cy="859536"/>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553712"/>
            <a:ext cx="2514600" cy="685800"/>
          </a:xfrm>
          <a:prstGeom prst="rect">
            <a:avLst/>
          </a:prstGeom>
          <a:noFill/>
        </p:spPr>
        <p:txBody>
          <a:bodyPr wrap="square" anchor="t" lIns="0" rIns="0" tIns="0" bIns="0">
            <a:spAutoFit/>
          </a:bodyPr>
          <a:lstStyle/>
          <a:p>
            <a:pPr algn="l">
              <a:lnSpc>
                <a:spcPct val="100000"/>
              </a:lnSpc>
            </a:pPr>
            <a:r>
              <a:rPr sz="1500" b="1">
                <a:solidFill>
                  <a:srgbClr val="5B8DEF"/>
                </a:solidFill>
                <a:latin typeface="Helvetica Neue"/>
              </a:rPr>
              <a:t>NVIDIA sources</a:t>
            </a:r>
          </a:p>
        </p:txBody>
      </p:sp>
      <p:sp>
        <p:nvSpPr>
          <p:cNvPr id="19" name="TextBox 18"/>
          <p:cNvSpPr txBox="1"/>
          <p:nvPr/>
        </p:nvSpPr>
        <p:spPr>
          <a:xfrm>
            <a:off x="3474720" y="4544568"/>
            <a:ext cx="8001000" cy="731520"/>
          </a:xfrm>
          <a:prstGeom prst="rect">
            <a:avLst/>
          </a:prstGeom>
          <a:noFill/>
        </p:spPr>
        <p:txBody>
          <a:bodyPr wrap="square" anchor="t" lIns="0" rIns="0" tIns="0" bIns="0">
            <a:spAutoFit/>
          </a:bodyPr>
          <a:lstStyle/>
          <a:p>
            <a:pPr algn="l">
              <a:lnSpc>
                <a:spcPct val="103000"/>
              </a:lnSpc>
            </a:pPr>
            <a:r>
              <a:rPr sz="1150" b="0">
                <a:solidFill>
                  <a:srgbClr val="9AA4B5"/>
                </a:solidFill>
                <a:latin typeface="Helvetica Neue"/>
              </a:rPr>
              <a:t>github.com/NVIDIA/NemoClaw · github.com/NVIDIA/OpenShell · docs.nvidia.com/nemoclaw · docs.nvidia.com/openshell — NemoClaw lists Hermes as a supported agent. Verified 2026-07-14.</a:t>
            </a:r>
          </a:p>
        </p:txBody>
      </p:sp>
      <p:sp>
        <p:nvSpPr>
          <p:cNvPr id="20" name="Rounded Rectangle 19"/>
          <p:cNvSpPr/>
          <p:nvPr/>
        </p:nvSpPr>
        <p:spPr>
          <a:xfrm>
            <a:off x="548640" y="5431536"/>
            <a:ext cx="11091672" cy="859536"/>
          </a:xfrm>
          <a:prstGeom prst="roundRect">
            <a:avLst>
              <a:gd name="adj" fmla="val 8000"/>
            </a:avLst>
          </a:prstGeom>
          <a:solidFill>
            <a:srgbClr val="151A24"/>
          </a:solidFill>
          <a:ln w="9525">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5431536"/>
            <a:ext cx="54864" cy="859536"/>
          </a:xfrm>
          <a:prstGeom prst="rect">
            <a:avLst/>
          </a:prstGeom>
          <a:solidFill>
            <a:srgbClr val="9AA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522976"/>
            <a:ext cx="2514600" cy="685800"/>
          </a:xfrm>
          <a:prstGeom prst="rect">
            <a:avLst/>
          </a:prstGeom>
          <a:noFill/>
        </p:spPr>
        <p:txBody>
          <a:bodyPr wrap="square" anchor="t" lIns="0" rIns="0" tIns="0" bIns="0">
            <a:spAutoFit/>
          </a:bodyPr>
          <a:lstStyle/>
          <a:p>
            <a:pPr algn="l">
              <a:lnSpc>
                <a:spcPct val="100000"/>
              </a:lnSpc>
            </a:pPr>
            <a:r>
              <a:rPr sz="1500" b="1">
                <a:solidFill>
                  <a:srgbClr val="9AA4B5"/>
                </a:solidFill>
                <a:latin typeface="Helvetica Neue"/>
              </a:rPr>
              <a:t>Compliance</a:t>
            </a:r>
          </a:p>
        </p:txBody>
      </p:sp>
      <p:sp>
        <p:nvSpPr>
          <p:cNvPr id="23" name="TextBox 22"/>
          <p:cNvSpPr txBox="1"/>
          <p:nvPr/>
        </p:nvSpPr>
        <p:spPr>
          <a:xfrm>
            <a:off x="3474720" y="5513832"/>
            <a:ext cx="8001000" cy="731520"/>
          </a:xfrm>
          <a:prstGeom prst="rect">
            <a:avLst/>
          </a:prstGeom>
          <a:noFill/>
        </p:spPr>
        <p:txBody>
          <a:bodyPr wrap="square" anchor="t" lIns="0" rIns="0" tIns="0" bIns="0">
            <a:spAutoFit/>
          </a:bodyPr>
          <a:lstStyle/>
          <a:p>
            <a:pPr algn="l">
              <a:lnSpc>
                <a:spcPct val="103000"/>
              </a:lnSpc>
            </a:pPr>
            <a:r>
              <a:rPr sz="1150" b="0">
                <a:solidFill>
                  <a:srgbClr val="9AA4B5"/>
                </a:solidFill>
                <a:latin typeface="Helvetica Neue"/>
              </a:rPr>
              <a:t>Paperline does not claim HIPAA, SOC 2, or legal certification. No customer, revenue, or business-outcome claims.</a:t>
            </a:r>
          </a:p>
        </p:txBody>
      </p:sp>
      <p:sp>
        <p:nvSpPr>
          <p:cNvPr id="24" name="TextBox 23"/>
          <p:cNvSpPr txBox="1"/>
          <p:nvPr/>
        </p:nvSpPr>
        <p:spPr>
          <a:xfrm>
            <a:off x="548640" y="6446520"/>
            <a:ext cx="11064240" cy="274320"/>
          </a:xfrm>
          <a:prstGeom prst="rect">
            <a:avLst/>
          </a:prstGeom>
          <a:noFill/>
        </p:spPr>
        <p:txBody>
          <a:bodyPr wrap="square" anchor="t" lIns="0" rIns="0" tIns="0" bIns="0">
            <a:spAutoFit/>
          </a:bodyPr>
          <a:lstStyle/>
          <a:p>
            <a:pPr algn="l">
              <a:lnSpc>
                <a:spcPct val="100000"/>
              </a:lnSpc>
            </a:pPr>
            <a:r>
              <a:rPr sz="1100" b="0">
                <a:solidFill>
                  <a:srgbClr val="9AA4B5"/>
                </a:solidFill>
                <a:latin typeface="Helvetica Neue"/>
              </a:rPr>
              <a:t>Claims ledger: docs/portfolio/presentation-claims-audit.md · Repository gates passed 2026-07-14: test:templates, test:extraction-eval, test:demo, lint, build</a:t>
            </a:r>
          </a:p>
        </p:txBody>
      </p:sp>
      <p:sp>
        <p:nvSpPr>
          <p:cNvPr id="25" name="TextBox 24"/>
          <p:cNvSpPr txBox="1"/>
          <p:nvPr/>
        </p:nvSpPr>
        <p:spPr>
          <a:xfrm>
            <a:off x="11658600" y="6473952"/>
            <a:ext cx="411480" cy="274320"/>
          </a:xfrm>
          <a:prstGeom prst="rect">
            <a:avLst/>
          </a:prstGeom>
          <a:noFill/>
        </p:spPr>
        <p:txBody>
          <a:bodyPr wrap="square" anchor="t" lIns="0" rIns="0" tIns="0" bIns="0">
            <a:spAutoFit/>
          </a:bodyPr>
          <a:lstStyle/>
          <a:p>
            <a:pPr algn="r">
              <a:lnSpc>
                <a:spcPct val="100000"/>
              </a:lnSpc>
            </a:pPr>
            <a:r>
              <a:rPr sz="1200" b="0">
                <a:solidFill>
                  <a:srgbClr val="9AA4B5"/>
                </a:solidFill>
                <a:latin typeface="Helvetica Neue"/>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